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23"/>
  </p:normalViewPr>
  <p:slideViewPr>
    <p:cSldViewPr snapToGrid="0">
      <p:cViewPr varScale="1">
        <p:scale>
          <a:sx n="117" d="100"/>
          <a:sy n="117" d="100"/>
        </p:scale>
        <p:origin x="5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矩形 66">
            <a:extLst>
              <a:ext uri="{FF2B5EF4-FFF2-40B4-BE49-F238E27FC236}">
                <a16:creationId xmlns:a16="http://schemas.microsoft.com/office/drawing/2014/main" id="{3A86B484-74C9-4916-8812-7EFAA1EA4D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CF157F7-6BB5-4418-9D4C-87BC351DB2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11182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D82B26B-A467-4724-9EC0-8B425690A58B}"/>
              </a:ext>
            </a:extLst>
          </p:cNvPr>
          <p:cNvSpPr>
            <a:spLocks noGrp="1"/>
          </p:cNvSpPr>
          <p:nvPr/>
        </p:nvSpPr>
        <p:spPr>
          <a:xfrm>
            <a:off x="0" y="838200"/>
            <a:ext cx="12192000" cy="76200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5095883-E64B-4942-B869-B7F1066FA7BF}"/>
              </a:ext>
            </a:extLst>
          </p:cNvPr>
          <p:cNvSpPr>
            <a:spLocks noGrp="1"/>
          </p:cNvSpPr>
          <p:nvPr/>
        </p:nvSpPr>
        <p:spPr>
          <a:xfrm>
            <a:off x="685800" y="266700"/>
            <a:ext cx="4000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275" b="1">
                <a:solidFill>
                  <a:srgbClr val="DDEFE8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DDEFE8"/>
                </a:solidFill>
                <a:latin typeface="PingFang TC"/>
                <a:ea typeface="PingFang TC"/>
                <a:cs typeface="PingFang TC"/>
              </a:rPr>
              <a:t>微算機概論 Final Project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E96B6B6-2228-43D6-A9DA-9EA3BE6ECA81}"/>
              </a:ext>
            </a:extLst>
          </p:cNvPr>
          <p:cNvSpPr>
            <a:spLocks noGrp="1"/>
          </p:cNvSpPr>
          <p:nvPr/>
        </p:nvSpPr>
        <p:spPr>
          <a:xfrm>
            <a:off x="685800" y="1466850"/>
            <a:ext cx="72390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46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46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MAZE QUEST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398B169-5607-4DCD-9CD0-B75A70C14D84}"/>
              </a:ext>
            </a:extLst>
          </p:cNvPr>
          <p:cNvSpPr>
            <a:spLocks noGrp="1"/>
          </p:cNvSpPr>
          <p:nvPr/>
        </p:nvSpPr>
        <p:spPr>
          <a:xfrm>
            <a:off x="742950" y="2305050"/>
            <a:ext cx="6191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2025" b="0">
                <a:solidFill>
                  <a:srgbClr val="334155"/>
                </a:solidFill>
                <a:latin typeface="PingFang TC"/>
                <a:ea typeface="PingFang TC"/>
                <a:cs typeface="PingFang TC"/>
              </a:defRPr>
            </a:pPr>
            <a:r>
              <a:rPr sz="2025" b="0">
                <a:solidFill>
                  <a:srgbClr val="334155"/>
                </a:solidFill>
                <a:latin typeface="PingFang TC"/>
                <a:ea typeface="PingFang TC"/>
                <a:cs typeface="PingFang TC"/>
              </a:rPr>
              <a:t>掌上型迷宮逃脫遊戲專案報告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FD918A3-6B60-4402-AC14-3F05E832EB82}"/>
              </a:ext>
            </a:extLst>
          </p:cNvPr>
          <p:cNvSpPr>
            <a:spLocks noGrp="1"/>
          </p:cNvSpPr>
          <p:nvPr/>
        </p:nvSpPr>
        <p:spPr>
          <a:xfrm>
            <a:off x="742950" y="2990850"/>
            <a:ext cx="5334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650" b="0">
                <a:solidFill>
                  <a:srgbClr val="334155"/>
                </a:solidFill>
                <a:latin typeface="PingFang TC"/>
                <a:ea typeface="PingFang TC"/>
                <a:cs typeface="PingFang TC"/>
              </a:defRPr>
            </a:pPr>
            <a:r>
              <a:rPr sz="1650" b="0">
                <a:solidFill>
                  <a:srgbClr val="334155"/>
                </a:solidFill>
                <a:latin typeface="PingFang TC"/>
                <a:ea typeface="PingFang TC"/>
                <a:cs typeface="PingFang TC"/>
              </a:rPr>
              <a:t>以 FSM 管理遊戲流程，用模組化拆分遊戲規則、畫面、輸入、音效與分數儲存。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18FC791-8670-4426-84AA-A9510BDB0481}"/>
              </a:ext>
            </a:extLst>
          </p:cNvPr>
          <p:cNvSpPr>
            <a:spLocks noGrp="1"/>
          </p:cNvSpPr>
          <p:nvPr/>
        </p:nvSpPr>
        <p:spPr>
          <a:xfrm>
            <a:off x="7524750" y="1428750"/>
            <a:ext cx="219075" cy="219075"/>
          </a:xfrm>
          <a:prstGeom prst="rect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4493394-CB3F-4038-8C00-24BFF6B5995F}"/>
              </a:ext>
            </a:extLst>
          </p:cNvPr>
          <p:cNvSpPr>
            <a:spLocks noGrp="1"/>
          </p:cNvSpPr>
          <p:nvPr/>
        </p:nvSpPr>
        <p:spPr>
          <a:xfrm>
            <a:off x="7753350" y="1428750"/>
            <a:ext cx="219075" cy="219075"/>
          </a:xfrm>
          <a:prstGeom prst="rect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E421465-25B7-43B5-B4E8-C29FD0706793}"/>
              </a:ext>
            </a:extLst>
          </p:cNvPr>
          <p:cNvSpPr>
            <a:spLocks noGrp="1"/>
          </p:cNvSpPr>
          <p:nvPr/>
        </p:nvSpPr>
        <p:spPr>
          <a:xfrm>
            <a:off x="7981950" y="1428750"/>
            <a:ext cx="219075" cy="219075"/>
          </a:xfrm>
          <a:prstGeom prst="rect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C478C72-B9EE-4D33-B79A-B6E9BC2C411F}"/>
              </a:ext>
            </a:extLst>
          </p:cNvPr>
          <p:cNvSpPr>
            <a:spLocks noGrp="1"/>
          </p:cNvSpPr>
          <p:nvPr/>
        </p:nvSpPr>
        <p:spPr>
          <a:xfrm>
            <a:off x="8210550" y="1428750"/>
            <a:ext cx="219075" cy="219075"/>
          </a:xfrm>
          <a:prstGeom prst="rect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233F71F-0823-4DD8-A8BE-5C2A7E50A29D}"/>
              </a:ext>
            </a:extLst>
          </p:cNvPr>
          <p:cNvSpPr>
            <a:spLocks noGrp="1"/>
          </p:cNvSpPr>
          <p:nvPr/>
        </p:nvSpPr>
        <p:spPr>
          <a:xfrm>
            <a:off x="8439150" y="1428750"/>
            <a:ext cx="219075" cy="219075"/>
          </a:xfrm>
          <a:prstGeom prst="rect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BBC5584-C11C-4865-AAFD-AC0D2D52DD9B}"/>
              </a:ext>
            </a:extLst>
          </p:cNvPr>
          <p:cNvSpPr>
            <a:spLocks noGrp="1"/>
          </p:cNvSpPr>
          <p:nvPr/>
        </p:nvSpPr>
        <p:spPr>
          <a:xfrm>
            <a:off x="8667750" y="1428750"/>
            <a:ext cx="219075" cy="219075"/>
          </a:xfrm>
          <a:prstGeom prst="rect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A0107E7-5E3C-4E53-A7AD-FF99974ED5CE}"/>
              </a:ext>
            </a:extLst>
          </p:cNvPr>
          <p:cNvSpPr>
            <a:spLocks noGrp="1"/>
          </p:cNvSpPr>
          <p:nvPr/>
        </p:nvSpPr>
        <p:spPr>
          <a:xfrm>
            <a:off x="8896350" y="1428750"/>
            <a:ext cx="219075" cy="219075"/>
          </a:xfrm>
          <a:prstGeom prst="rect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85E4527-0D8B-456D-ACFD-520DC4FF7AFF}"/>
              </a:ext>
            </a:extLst>
          </p:cNvPr>
          <p:cNvSpPr>
            <a:spLocks noGrp="1"/>
          </p:cNvSpPr>
          <p:nvPr/>
        </p:nvSpPr>
        <p:spPr>
          <a:xfrm>
            <a:off x="9124950" y="1428750"/>
            <a:ext cx="219075" cy="219075"/>
          </a:xfrm>
          <a:prstGeom prst="rect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192A2E4-9B50-46E9-81E7-2FD636766A0E}"/>
              </a:ext>
            </a:extLst>
          </p:cNvPr>
          <p:cNvSpPr>
            <a:spLocks noGrp="1"/>
          </p:cNvSpPr>
          <p:nvPr/>
        </p:nvSpPr>
        <p:spPr>
          <a:xfrm>
            <a:off x="9353550" y="1428750"/>
            <a:ext cx="219075" cy="219075"/>
          </a:xfrm>
          <a:prstGeom prst="rect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FDF74C1-9BAC-435E-89B9-CDB3B7DCF8C6}"/>
              </a:ext>
            </a:extLst>
          </p:cNvPr>
          <p:cNvSpPr>
            <a:spLocks noGrp="1"/>
          </p:cNvSpPr>
          <p:nvPr/>
        </p:nvSpPr>
        <p:spPr>
          <a:xfrm>
            <a:off x="9582150" y="1428750"/>
            <a:ext cx="219075" cy="219075"/>
          </a:xfrm>
          <a:prstGeom prst="rect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68858E1-4AF1-4A09-98BF-5FBE1A43F620}"/>
              </a:ext>
            </a:extLst>
          </p:cNvPr>
          <p:cNvSpPr>
            <a:spLocks noGrp="1"/>
          </p:cNvSpPr>
          <p:nvPr/>
        </p:nvSpPr>
        <p:spPr>
          <a:xfrm>
            <a:off x="9810750" y="1428750"/>
            <a:ext cx="219075" cy="219075"/>
          </a:xfrm>
          <a:prstGeom prst="rect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D9A657E-4CC3-4A6D-9893-C29B0D207895}"/>
              </a:ext>
            </a:extLst>
          </p:cNvPr>
          <p:cNvSpPr>
            <a:spLocks noGrp="1"/>
          </p:cNvSpPr>
          <p:nvPr/>
        </p:nvSpPr>
        <p:spPr>
          <a:xfrm>
            <a:off x="7524750" y="1657350"/>
            <a:ext cx="219075" cy="219075"/>
          </a:xfrm>
          <a:prstGeom prst="rect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57989BE-6092-4F4D-B8A3-CB2D2B440AE7}"/>
              </a:ext>
            </a:extLst>
          </p:cNvPr>
          <p:cNvSpPr>
            <a:spLocks noGrp="1"/>
          </p:cNvSpPr>
          <p:nvPr/>
        </p:nvSpPr>
        <p:spPr>
          <a:xfrm>
            <a:off x="7772400" y="1676400"/>
            <a:ext cx="190500" cy="190500"/>
          </a:xfrm>
          <a:prstGeom prst="rect">
            <a:avLst/>
          </a:prstGeom>
          <a:solidFill>
            <a:srgbClr val="0E7C7B"/>
          </a:solidFill>
          <a:ln w="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FB20489-24B1-4EB2-9F7D-2D322E4FECAD}"/>
              </a:ext>
            </a:extLst>
          </p:cNvPr>
          <p:cNvSpPr>
            <a:spLocks noGrp="1"/>
          </p:cNvSpPr>
          <p:nvPr/>
        </p:nvSpPr>
        <p:spPr>
          <a:xfrm>
            <a:off x="8439150" y="1657350"/>
            <a:ext cx="219075" cy="219075"/>
          </a:xfrm>
          <a:prstGeom prst="rect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94E404A-1A34-4579-BA70-FDC1AC9A1AC2}"/>
              </a:ext>
            </a:extLst>
          </p:cNvPr>
          <p:cNvSpPr>
            <a:spLocks noGrp="1"/>
          </p:cNvSpPr>
          <p:nvPr/>
        </p:nvSpPr>
        <p:spPr>
          <a:xfrm>
            <a:off x="9582150" y="1657350"/>
            <a:ext cx="219075" cy="219075"/>
          </a:xfrm>
          <a:prstGeom prst="rect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7A15E00-B8A6-4C9F-AFBD-13423F737A25}"/>
              </a:ext>
            </a:extLst>
          </p:cNvPr>
          <p:cNvSpPr>
            <a:spLocks noGrp="1"/>
          </p:cNvSpPr>
          <p:nvPr/>
        </p:nvSpPr>
        <p:spPr>
          <a:xfrm>
            <a:off x="7524750" y="1885950"/>
            <a:ext cx="219075" cy="219075"/>
          </a:xfrm>
          <a:prstGeom prst="rect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B8D9108-BC97-41A1-9AC0-B7B6BD48BDE4}"/>
              </a:ext>
            </a:extLst>
          </p:cNvPr>
          <p:cNvSpPr>
            <a:spLocks noGrp="1"/>
          </p:cNvSpPr>
          <p:nvPr/>
        </p:nvSpPr>
        <p:spPr>
          <a:xfrm>
            <a:off x="7753350" y="1885950"/>
            <a:ext cx="219075" cy="219075"/>
          </a:xfrm>
          <a:prstGeom prst="rect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9D43A8B-CF96-46B0-8D8B-3CD1D0E8A2D9}"/>
              </a:ext>
            </a:extLst>
          </p:cNvPr>
          <p:cNvSpPr>
            <a:spLocks noGrp="1"/>
          </p:cNvSpPr>
          <p:nvPr/>
        </p:nvSpPr>
        <p:spPr>
          <a:xfrm>
            <a:off x="7981950" y="1885950"/>
            <a:ext cx="219075" cy="219075"/>
          </a:xfrm>
          <a:prstGeom prst="rect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5C5D24F-0455-49E7-BE45-536CE0C0CD42}"/>
              </a:ext>
            </a:extLst>
          </p:cNvPr>
          <p:cNvSpPr>
            <a:spLocks noGrp="1"/>
          </p:cNvSpPr>
          <p:nvPr/>
        </p:nvSpPr>
        <p:spPr>
          <a:xfrm>
            <a:off x="8439150" y="1885950"/>
            <a:ext cx="219075" cy="219075"/>
          </a:xfrm>
          <a:prstGeom prst="rect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42A6AF4-7EAE-43B9-94D5-6765F048D451}"/>
              </a:ext>
            </a:extLst>
          </p:cNvPr>
          <p:cNvSpPr>
            <a:spLocks noGrp="1"/>
          </p:cNvSpPr>
          <p:nvPr/>
        </p:nvSpPr>
        <p:spPr>
          <a:xfrm>
            <a:off x="8896350" y="1885950"/>
            <a:ext cx="219075" cy="219075"/>
          </a:xfrm>
          <a:prstGeom prst="rect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A57D759-C341-4E33-B7D6-58E043F2BE68}"/>
              </a:ext>
            </a:extLst>
          </p:cNvPr>
          <p:cNvSpPr>
            <a:spLocks noGrp="1"/>
          </p:cNvSpPr>
          <p:nvPr/>
        </p:nvSpPr>
        <p:spPr>
          <a:xfrm>
            <a:off x="9124950" y="1885950"/>
            <a:ext cx="219075" cy="219075"/>
          </a:xfrm>
          <a:prstGeom prst="rect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9578120-E704-4852-A7BF-D1EF23841046}"/>
              </a:ext>
            </a:extLst>
          </p:cNvPr>
          <p:cNvSpPr>
            <a:spLocks noGrp="1"/>
          </p:cNvSpPr>
          <p:nvPr/>
        </p:nvSpPr>
        <p:spPr>
          <a:xfrm>
            <a:off x="9582150" y="1885950"/>
            <a:ext cx="219075" cy="219075"/>
          </a:xfrm>
          <a:prstGeom prst="rect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EA01CD4-FEE3-40E5-AF4D-4675C7D59A7F}"/>
              </a:ext>
            </a:extLst>
          </p:cNvPr>
          <p:cNvSpPr>
            <a:spLocks noGrp="1"/>
          </p:cNvSpPr>
          <p:nvPr/>
        </p:nvSpPr>
        <p:spPr>
          <a:xfrm>
            <a:off x="7524750" y="2114550"/>
            <a:ext cx="219075" cy="219075"/>
          </a:xfrm>
          <a:prstGeom prst="rect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42F64D1-242A-429C-B3BE-73EE229EDEB4}"/>
              </a:ext>
            </a:extLst>
          </p:cNvPr>
          <p:cNvSpPr>
            <a:spLocks noGrp="1"/>
          </p:cNvSpPr>
          <p:nvPr/>
        </p:nvSpPr>
        <p:spPr>
          <a:xfrm>
            <a:off x="8439150" y="2114550"/>
            <a:ext cx="219075" cy="219075"/>
          </a:xfrm>
          <a:prstGeom prst="rect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6F565E7-EEE1-41B9-80C5-BAEFC31962EE}"/>
              </a:ext>
            </a:extLst>
          </p:cNvPr>
          <p:cNvSpPr>
            <a:spLocks noGrp="1"/>
          </p:cNvSpPr>
          <p:nvPr/>
        </p:nvSpPr>
        <p:spPr>
          <a:xfrm>
            <a:off x="8896350" y="2114550"/>
            <a:ext cx="219075" cy="219075"/>
          </a:xfrm>
          <a:prstGeom prst="rect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3782B06-3BEF-4235-B0D1-E5D229C8CF6E}"/>
              </a:ext>
            </a:extLst>
          </p:cNvPr>
          <p:cNvSpPr>
            <a:spLocks noGrp="1"/>
          </p:cNvSpPr>
          <p:nvPr/>
        </p:nvSpPr>
        <p:spPr>
          <a:xfrm>
            <a:off x="9582150" y="2114550"/>
            <a:ext cx="219075" cy="219075"/>
          </a:xfrm>
          <a:prstGeom prst="rect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0B8D6B2-84D7-4FD7-BFEF-9070BB4EF52A}"/>
              </a:ext>
            </a:extLst>
          </p:cNvPr>
          <p:cNvSpPr>
            <a:spLocks noGrp="1"/>
          </p:cNvSpPr>
          <p:nvPr/>
        </p:nvSpPr>
        <p:spPr>
          <a:xfrm>
            <a:off x="7524750" y="2343150"/>
            <a:ext cx="219075" cy="219075"/>
          </a:xfrm>
          <a:prstGeom prst="rect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F80AF74-9B6A-425B-A732-7329BAF2C26C}"/>
              </a:ext>
            </a:extLst>
          </p:cNvPr>
          <p:cNvSpPr>
            <a:spLocks noGrp="1"/>
          </p:cNvSpPr>
          <p:nvPr/>
        </p:nvSpPr>
        <p:spPr>
          <a:xfrm>
            <a:off x="7981950" y="2343150"/>
            <a:ext cx="219075" cy="219075"/>
          </a:xfrm>
          <a:prstGeom prst="rect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3ED8376D-616B-4E65-8355-81ABF0B238D8}"/>
              </a:ext>
            </a:extLst>
          </p:cNvPr>
          <p:cNvSpPr>
            <a:spLocks noGrp="1"/>
          </p:cNvSpPr>
          <p:nvPr/>
        </p:nvSpPr>
        <p:spPr>
          <a:xfrm>
            <a:off x="8210550" y="2343150"/>
            <a:ext cx="219075" cy="219075"/>
          </a:xfrm>
          <a:prstGeom prst="rect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D530D3D-0E97-4B51-8438-31DB330DD846}"/>
              </a:ext>
            </a:extLst>
          </p:cNvPr>
          <p:cNvSpPr>
            <a:spLocks noGrp="1"/>
          </p:cNvSpPr>
          <p:nvPr/>
        </p:nvSpPr>
        <p:spPr>
          <a:xfrm>
            <a:off x="8439150" y="2343150"/>
            <a:ext cx="219075" cy="219075"/>
          </a:xfrm>
          <a:prstGeom prst="rect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97050A5-4555-4CEE-A7E7-E4AAE108AC3A}"/>
              </a:ext>
            </a:extLst>
          </p:cNvPr>
          <p:cNvSpPr>
            <a:spLocks noGrp="1"/>
          </p:cNvSpPr>
          <p:nvPr/>
        </p:nvSpPr>
        <p:spPr>
          <a:xfrm>
            <a:off x="8896350" y="2343150"/>
            <a:ext cx="219075" cy="219075"/>
          </a:xfrm>
          <a:prstGeom prst="rect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9A46E5E-C9C2-4C08-B0BC-0352D4366AC0}"/>
              </a:ext>
            </a:extLst>
          </p:cNvPr>
          <p:cNvSpPr>
            <a:spLocks noGrp="1"/>
          </p:cNvSpPr>
          <p:nvPr/>
        </p:nvSpPr>
        <p:spPr>
          <a:xfrm>
            <a:off x="9134475" y="2352675"/>
            <a:ext cx="200025" cy="200025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7674FDD-0AFE-41A8-8769-3DD14B015E0D}"/>
              </a:ext>
            </a:extLst>
          </p:cNvPr>
          <p:cNvSpPr>
            <a:spLocks noGrp="1"/>
          </p:cNvSpPr>
          <p:nvPr/>
        </p:nvSpPr>
        <p:spPr>
          <a:xfrm>
            <a:off x="9582150" y="2343150"/>
            <a:ext cx="219075" cy="219075"/>
          </a:xfrm>
          <a:prstGeom prst="rect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0D40667-19A4-416D-8310-A2D850C22A06}"/>
              </a:ext>
            </a:extLst>
          </p:cNvPr>
          <p:cNvSpPr>
            <a:spLocks noGrp="1"/>
          </p:cNvSpPr>
          <p:nvPr/>
        </p:nvSpPr>
        <p:spPr>
          <a:xfrm>
            <a:off x="7524750" y="2571750"/>
            <a:ext cx="219075" cy="219075"/>
          </a:xfrm>
          <a:prstGeom prst="rect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C4B5BFB-80C4-40AD-8087-5A5C92DD6820}"/>
              </a:ext>
            </a:extLst>
          </p:cNvPr>
          <p:cNvSpPr>
            <a:spLocks noGrp="1"/>
          </p:cNvSpPr>
          <p:nvPr/>
        </p:nvSpPr>
        <p:spPr>
          <a:xfrm>
            <a:off x="8896350" y="2571750"/>
            <a:ext cx="219075" cy="219075"/>
          </a:xfrm>
          <a:prstGeom prst="rect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3A11E973-A88C-4003-82EC-A632BEA6ED9A}"/>
              </a:ext>
            </a:extLst>
          </p:cNvPr>
          <p:cNvSpPr>
            <a:spLocks noGrp="1"/>
          </p:cNvSpPr>
          <p:nvPr/>
        </p:nvSpPr>
        <p:spPr>
          <a:xfrm>
            <a:off x="9582150" y="2571750"/>
            <a:ext cx="219075" cy="219075"/>
          </a:xfrm>
          <a:prstGeom prst="rect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2769663-2B28-4623-A2B1-94F60925D4A1}"/>
              </a:ext>
            </a:extLst>
          </p:cNvPr>
          <p:cNvSpPr>
            <a:spLocks noGrp="1"/>
          </p:cNvSpPr>
          <p:nvPr/>
        </p:nvSpPr>
        <p:spPr>
          <a:xfrm>
            <a:off x="7524750" y="2800350"/>
            <a:ext cx="219075" cy="219075"/>
          </a:xfrm>
          <a:prstGeom prst="rect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B9B3D23-F6EA-4279-8691-279FF434DD74}"/>
              </a:ext>
            </a:extLst>
          </p:cNvPr>
          <p:cNvSpPr>
            <a:spLocks noGrp="1"/>
          </p:cNvSpPr>
          <p:nvPr/>
        </p:nvSpPr>
        <p:spPr>
          <a:xfrm>
            <a:off x="7753350" y="2800350"/>
            <a:ext cx="219075" cy="219075"/>
          </a:xfrm>
          <a:prstGeom prst="rect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5901C9F4-05B3-4959-861E-1D6AD181E71D}"/>
              </a:ext>
            </a:extLst>
          </p:cNvPr>
          <p:cNvSpPr>
            <a:spLocks noGrp="1"/>
          </p:cNvSpPr>
          <p:nvPr/>
        </p:nvSpPr>
        <p:spPr>
          <a:xfrm>
            <a:off x="7981950" y="2800350"/>
            <a:ext cx="219075" cy="219075"/>
          </a:xfrm>
          <a:prstGeom prst="rect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7A9B0FE3-9574-4743-8E19-B5CCEAA0EDAE}"/>
              </a:ext>
            </a:extLst>
          </p:cNvPr>
          <p:cNvSpPr>
            <a:spLocks noGrp="1"/>
          </p:cNvSpPr>
          <p:nvPr/>
        </p:nvSpPr>
        <p:spPr>
          <a:xfrm>
            <a:off x="8210550" y="2800350"/>
            <a:ext cx="219075" cy="219075"/>
          </a:xfrm>
          <a:prstGeom prst="rect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E503F16-5421-4D2B-8848-B697294945E0}"/>
              </a:ext>
            </a:extLst>
          </p:cNvPr>
          <p:cNvSpPr>
            <a:spLocks noGrp="1"/>
          </p:cNvSpPr>
          <p:nvPr/>
        </p:nvSpPr>
        <p:spPr>
          <a:xfrm>
            <a:off x="8439150" y="2800350"/>
            <a:ext cx="219075" cy="219075"/>
          </a:xfrm>
          <a:prstGeom prst="rect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DEE65451-B07A-4B92-B2B5-859FAC3314A1}"/>
              </a:ext>
            </a:extLst>
          </p:cNvPr>
          <p:cNvSpPr>
            <a:spLocks noGrp="1"/>
          </p:cNvSpPr>
          <p:nvPr/>
        </p:nvSpPr>
        <p:spPr>
          <a:xfrm>
            <a:off x="8667750" y="2800350"/>
            <a:ext cx="219075" cy="219075"/>
          </a:xfrm>
          <a:prstGeom prst="rect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39A9373F-D2E2-47E1-A8CB-9C855BE0FB27}"/>
              </a:ext>
            </a:extLst>
          </p:cNvPr>
          <p:cNvSpPr>
            <a:spLocks noGrp="1"/>
          </p:cNvSpPr>
          <p:nvPr/>
        </p:nvSpPr>
        <p:spPr>
          <a:xfrm>
            <a:off x="8896350" y="2800350"/>
            <a:ext cx="219075" cy="219075"/>
          </a:xfrm>
          <a:prstGeom prst="rect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673DC3FE-5F24-4516-8004-3974708B1091}"/>
              </a:ext>
            </a:extLst>
          </p:cNvPr>
          <p:cNvSpPr>
            <a:spLocks noGrp="1"/>
          </p:cNvSpPr>
          <p:nvPr/>
        </p:nvSpPr>
        <p:spPr>
          <a:xfrm>
            <a:off x="9124950" y="2800350"/>
            <a:ext cx="219075" cy="219075"/>
          </a:xfrm>
          <a:prstGeom prst="rect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2AD53390-275D-4F6A-ABE6-33401800893A}"/>
              </a:ext>
            </a:extLst>
          </p:cNvPr>
          <p:cNvSpPr>
            <a:spLocks noGrp="1"/>
          </p:cNvSpPr>
          <p:nvPr/>
        </p:nvSpPr>
        <p:spPr>
          <a:xfrm>
            <a:off x="9353550" y="2800350"/>
            <a:ext cx="219075" cy="219075"/>
          </a:xfrm>
          <a:prstGeom prst="rect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58DC93B1-49DE-4599-95C0-0AD68D89866D}"/>
              </a:ext>
            </a:extLst>
          </p:cNvPr>
          <p:cNvSpPr>
            <a:spLocks noGrp="1"/>
          </p:cNvSpPr>
          <p:nvPr/>
        </p:nvSpPr>
        <p:spPr>
          <a:xfrm>
            <a:off x="9582150" y="2800350"/>
            <a:ext cx="219075" cy="219075"/>
          </a:xfrm>
          <a:prstGeom prst="rect">
            <a:avLst/>
          </a:prstGeom>
          <a:solidFill>
            <a:srgbClr val="334155"/>
          </a:solidFill>
          <a:ln w="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4" name="圓角矩形 53">
            <a:extLst>
              <a:ext uri="{FF2B5EF4-FFF2-40B4-BE49-F238E27FC236}">
                <a16:creationId xmlns:a16="http://schemas.microsoft.com/office/drawing/2014/main" id="{AC91EDCD-DC76-450E-8C69-49B0D15AE45A}"/>
              </a:ext>
            </a:extLst>
          </p:cNvPr>
          <p:cNvSpPr>
            <a:spLocks noGrp="1"/>
          </p:cNvSpPr>
          <p:nvPr/>
        </p:nvSpPr>
        <p:spPr>
          <a:xfrm>
            <a:off x="742950" y="4648200"/>
            <a:ext cx="16192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760101AB-0979-471C-9173-42AC9EBF88F6}"/>
              </a:ext>
            </a:extLst>
          </p:cNvPr>
          <p:cNvSpPr>
            <a:spLocks noGrp="1"/>
          </p:cNvSpPr>
          <p:nvPr/>
        </p:nvSpPr>
        <p:spPr>
          <a:xfrm>
            <a:off x="895350" y="4743450"/>
            <a:ext cx="1314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2325" b="1">
                <a:solidFill>
                  <a:srgbClr val="0E7C7B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0E7C7B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86BFF57A-DFAD-4E15-8B25-FDFBD60F3BC0}"/>
              </a:ext>
            </a:extLst>
          </p:cNvPr>
          <p:cNvSpPr>
            <a:spLocks noGrp="1"/>
          </p:cNvSpPr>
          <p:nvPr/>
        </p:nvSpPr>
        <p:spPr>
          <a:xfrm>
            <a:off x="895350" y="5162550"/>
            <a:ext cx="1314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0">
                <a:solidFill>
                  <a:srgbClr val="334155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334155"/>
                </a:solidFill>
                <a:latin typeface="PingFang TC"/>
                <a:ea typeface="PingFang TC"/>
                <a:cs typeface="PingFang TC"/>
              </a:rPr>
              <a:t>關卡迷宮</a:t>
            </a:r>
          </a:p>
        </p:txBody>
      </p:sp>
      <p:sp>
        <p:nvSpPr>
          <p:cNvPr id="57" name="圓角矩形 56">
            <a:extLst>
              <a:ext uri="{FF2B5EF4-FFF2-40B4-BE49-F238E27FC236}">
                <a16:creationId xmlns:a16="http://schemas.microsoft.com/office/drawing/2014/main" id="{34C5BEFC-2021-4726-ABE0-E7AE254354E4}"/>
              </a:ext>
            </a:extLst>
          </p:cNvPr>
          <p:cNvSpPr>
            <a:spLocks noGrp="1"/>
          </p:cNvSpPr>
          <p:nvPr/>
        </p:nvSpPr>
        <p:spPr>
          <a:xfrm>
            <a:off x="2571750" y="4648200"/>
            <a:ext cx="16192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213B8EAA-047A-4B3F-B9A9-3EA64053BF2B}"/>
              </a:ext>
            </a:extLst>
          </p:cNvPr>
          <p:cNvSpPr>
            <a:spLocks noGrp="1"/>
          </p:cNvSpPr>
          <p:nvPr/>
        </p:nvSpPr>
        <p:spPr>
          <a:xfrm>
            <a:off x="2724150" y="4743450"/>
            <a:ext cx="13144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2325" b="1">
                <a:solidFill>
                  <a:srgbClr val="D9A441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D9A441"/>
                </a:solidFill>
                <a:latin typeface="PingFang TC"/>
                <a:ea typeface="PingFang TC"/>
                <a:cs typeface="PingFang TC"/>
              </a:rPr>
              <a:t>30s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465CC3ED-5949-4844-957F-1815E7CBDC87}"/>
              </a:ext>
            </a:extLst>
          </p:cNvPr>
          <p:cNvSpPr>
            <a:spLocks noGrp="1"/>
          </p:cNvSpPr>
          <p:nvPr/>
        </p:nvSpPr>
        <p:spPr>
          <a:xfrm>
            <a:off x="2724150" y="5162550"/>
            <a:ext cx="13144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0">
                <a:solidFill>
                  <a:srgbClr val="334155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334155"/>
                </a:solidFill>
                <a:latin typeface="PingFang TC"/>
                <a:ea typeface="PingFang TC"/>
                <a:cs typeface="PingFang TC"/>
              </a:rPr>
              <a:t>每關倒數</a:t>
            </a:r>
          </a:p>
        </p:txBody>
      </p:sp>
      <p:sp>
        <p:nvSpPr>
          <p:cNvPr id="60" name="圓角矩形 59">
            <a:extLst>
              <a:ext uri="{FF2B5EF4-FFF2-40B4-BE49-F238E27FC236}">
                <a16:creationId xmlns:a16="http://schemas.microsoft.com/office/drawing/2014/main" id="{C8CFCCFD-FBF8-44D8-B107-750D4820EF20}"/>
              </a:ext>
            </a:extLst>
          </p:cNvPr>
          <p:cNvSpPr>
            <a:spLocks noGrp="1"/>
          </p:cNvSpPr>
          <p:nvPr/>
        </p:nvSpPr>
        <p:spPr>
          <a:xfrm>
            <a:off x="4400550" y="4648200"/>
            <a:ext cx="180975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DDAAFF71-6C5D-4527-88BC-8A9A4A70A821}"/>
              </a:ext>
            </a:extLst>
          </p:cNvPr>
          <p:cNvSpPr>
            <a:spLocks noGrp="1"/>
          </p:cNvSpPr>
          <p:nvPr/>
        </p:nvSpPr>
        <p:spPr>
          <a:xfrm>
            <a:off x="4552950" y="4743450"/>
            <a:ext cx="15049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2325" b="1">
                <a:solidFill>
                  <a:srgbClr val="D45D4C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D45D4C"/>
                </a:solidFill>
                <a:latin typeface="PingFang TC"/>
                <a:ea typeface="PingFang TC"/>
                <a:cs typeface="PingFang TC"/>
              </a:rPr>
              <a:t>Top 5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5CF743F3-B9FB-4833-B3EE-5DA1809430EA}"/>
              </a:ext>
            </a:extLst>
          </p:cNvPr>
          <p:cNvSpPr>
            <a:spLocks noGrp="1"/>
          </p:cNvSpPr>
          <p:nvPr/>
        </p:nvSpPr>
        <p:spPr>
          <a:xfrm>
            <a:off x="4552950" y="5162550"/>
            <a:ext cx="1504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0">
                <a:solidFill>
                  <a:srgbClr val="334155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334155"/>
                </a:solidFill>
                <a:latin typeface="PingFang TC"/>
                <a:ea typeface="PingFang TC"/>
                <a:cs typeface="PingFang TC"/>
              </a:rPr>
              <a:t>排行榜保存</a:t>
            </a:r>
          </a:p>
        </p:txBody>
      </p:sp>
      <p:sp>
        <p:nvSpPr>
          <p:cNvPr id="63" name="圓角矩形 62">
            <a:extLst>
              <a:ext uri="{FF2B5EF4-FFF2-40B4-BE49-F238E27FC236}">
                <a16:creationId xmlns:a16="http://schemas.microsoft.com/office/drawing/2014/main" id="{134BACFA-5CA2-4112-AE8E-AC1B1A01F3DF}"/>
              </a:ext>
            </a:extLst>
          </p:cNvPr>
          <p:cNvSpPr>
            <a:spLocks noGrp="1"/>
          </p:cNvSpPr>
          <p:nvPr/>
        </p:nvSpPr>
        <p:spPr>
          <a:xfrm>
            <a:off x="6419850" y="4648200"/>
            <a:ext cx="20955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A5F612CD-6967-4EEB-9F37-EDE9568C95BE}"/>
              </a:ext>
            </a:extLst>
          </p:cNvPr>
          <p:cNvSpPr>
            <a:spLocks noGrp="1"/>
          </p:cNvSpPr>
          <p:nvPr/>
        </p:nvSpPr>
        <p:spPr>
          <a:xfrm>
            <a:off x="6572250" y="4743450"/>
            <a:ext cx="17907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2325" b="1">
                <a:solidFill>
                  <a:srgbClr val="4968D8"/>
                </a:solidFill>
                <a:latin typeface="PingFang TC"/>
                <a:ea typeface="PingFang TC"/>
                <a:cs typeface="PingFang TC"/>
              </a:defRPr>
            </a:pPr>
            <a:r>
              <a:rPr sz="2325" b="1">
                <a:solidFill>
                  <a:srgbClr val="4968D8"/>
                </a:solidFill>
                <a:latin typeface="PingFang TC"/>
                <a:ea typeface="PingFang TC"/>
                <a:cs typeface="PingFang TC"/>
              </a:rPr>
              <a:t>async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B6E37E24-BDBD-4DED-85F6-84916D29E802}"/>
              </a:ext>
            </a:extLst>
          </p:cNvPr>
          <p:cNvSpPr>
            <a:spLocks noGrp="1"/>
          </p:cNvSpPr>
          <p:nvPr/>
        </p:nvSpPr>
        <p:spPr>
          <a:xfrm>
            <a:off x="6572250" y="5162550"/>
            <a:ext cx="179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0">
                <a:solidFill>
                  <a:srgbClr val="334155"/>
                </a:solidFill>
                <a:latin typeface="PingFang TC"/>
                <a:ea typeface="PingFang TC"/>
                <a:cs typeface="PingFang TC"/>
              </a:defRPr>
            </a:pPr>
            <a:r>
              <a:rPr sz="1125" b="0">
                <a:solidFill>
                  <a:srgbClr val="334155"/>
                </a:solidFill>
                <a:latin typeface="PingFang TC"/>
                <a:ea typeface="PingFang TC"/>
                <a:cs typeface="PingFang TC"/>
              </a:rPr>
              <a:t>輸入/音效/主迴圈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BF3738C5-3799-41AC-A8C4-C54B53E26CD9}"/>
              </a:ext>
            </a:extLst>
          </p:cNvPr>
          <p:cNvSpPr>
            <a:spLocks noGrp="1"/>
          </p:cNvSpPr>
          <p:nvPr/>
        </p:nvSpPr>
        <p:spPr>
          <a:xfrm>
            <a:off x="9525000" y="40005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r">
              <a:defRPr sz="1200" b="0">
                <a:solidFill>
                  <a:srgbClr val="DDEFE8"/>
                </a:solidFill>
                <a:latin typeface="PingFang TC"/>
                <a:ea typeface="PingFang TC"/>
                <a:cs typeface="PingFang TC"/>
              </a:defRPr>
            </a:pPr>
            <a:r>
              <a:rPr sz="1200" b="0">
                <a:solidFill>
                  <a:srgbClr val="DDEFE8"/>
                </a:solidFill>
                <a:latin typeface="PingFang TC"/>
                <a:ea typeface="PingFang TC"/>
                <a:cs typeface="PingFang TC"/>
              </a:rPr>
              <a:t>Project Report</a:t>
            </a:r>
          </a:p>
        </p:txBody>
      </p:sp>
    </p:spTree>
    <p:extLst>
      <p:ext uri="{BB962C8B-B14F-4D97-AF65-F5344CB8AC3E}">
        <p14:creationId xmlns:p14="http://schemas.microsoft.com/office/powerpoint/2010/main" val="344216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2067CFF8-6357-4F36-8239-7B8E21CA4A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5C4727-891F-4460-AF53-25DBB932EF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2CB375E-19F3-4ACB-9FF4-FA2711895E8C}"/>
              </a:ext>
            </a:extLst>
          </p:cNvPr>
          <p:cNvSpPr>
            <a:spLocks noGrp="1"/>
          </p:cNvSpPr>
          <p:nvPr/>
        </p:nvSpPr>
        <p:spPr>
          <a:xfrm>
            <a:off x="11315700" y="6419850"/>
            <a:ext cx="419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4516E5C-B322-4851-A5A1-BE6E17D9034C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MAZE QUEST Final Project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15783B3-FC24-4C3E-96AA-CE6D1A5EC4EC}"/>
              </a:ext>
            </a:extLst>
          </p:cNvPr>
          <p:cNvSpPr>
            <a:spLocks noGrp="1"/>
          </p:cNvSpPr>
          <p:nvPr/>
        </p:nvSpPr>
        <p:spPr>
          <a:xfrm>
            <a:off x="666750" y="4191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E7C7B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0E7C7B"/>
                </a:solidFill>
                <a:latin typeface="PingFang TC"/>
                <a:ea typeface="PingFang TC"/>
                <a:cs typeface="PingFang TC"/>
              </a:rPr>
              <a:t>PROJECT SCOPE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7877DBA-1DAF-476E-AD85-A65BFAEAA95C}"/>
              </a:ext>
            </a:extLst>
          </p:cNvPr>
          <p:cNvSpPr>
            <a:spLocks noGrp="1"/>
          </p:cNvSpPr>
          <p:nvPr/>
        </p:nvSpPr>
        <p:spPr>
          <a:xfrm>
            <a:off x="666750" y="723900"/>
            <a:ext cx="9334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這份專案報告聚焦軟體設計與遊戲流程。</a:t>
            </a: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F8C0ED2F-6004-4CB9-823A-E6D85F28CCA1}"/>
              </a:ext>
            </a:extLst>
          </p:cNvPr>
          <p:cNvSpPr>
            <a:spLocks noGrp="1"/>
          </p:cNvSpPr>
          <p:nvPr/>
        </p:nvSpPr>
        <p:spPr>
          <a:xfrm>
            <a:off x="666750" y="1695450"/>
            <a:ext cx="10287000" cy="3790950"/>
          </a:xfrm>
          <a:prstGeom prst="roundRect">
            <a:avLst>
              <a:gd name="adj" fmla="val 2010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4E1C6E2-122C-4F6E-AB11-CD2B636E40D3}"/>
              </a:ext>
            </a:extLst>
          </p:cNvPr>
          <p:cNvSpPr>
            <a:spLocks noGrp="1"/>
          </p:cNvSpPr>
          <p:nvPr/>
        </p:nvSpPr>
        <p:spPr>
          <a:xfrm>
            <a:off x="1066800" y="2419350"/>
            <a:ext cx="9429750" cy="19050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48E0A55D-0CF6-44B7-A582-3E5098A457F7}"/>
              </a:ext>
            </a:extLst>
          </p:cNvPr>
          <p:cNvSpPr>
            <a:spLocks noGrp="1"/>
          </p:cNvSpPr>
          <p:nvPr/>
        </p:nvSpPr>
        <p:spPr>
          <a:xfrm>
            <a:off x="1066800" y="1924050"/>
            <a:ext cx="1504950" cy="323850"/>
          </a:xfrm>
          <a:prstGeom prst="roundRect">
            <a:avLst>
              <a:gd name="adj" fmla="val 23529"/>
            </a:avLst>
          </a:prstGeom>
          <a:solidFill>
            <a:srgbClr val="0E7C7B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6BFB8B5-8983-4810-A8A9-0FCF2E2DDA4D}"/>
              </a:ext>
            </a:extLst>
          </p:cNvPr>
          <p:cNvSpPr>
            <a:spLocks noGrp="1"/>
          </p:cNvSpPr>
          <p:nvPr/>
        </p:nvSpPr>
        <p:spPr>
          <a:xfrm>
            <a:off x="1143000" y="1971675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遊戲主題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FC31553-48F1-400A-9913-DA57544B9020}"/>
              </a:ext>
            </a:extLst>
          </p:cNvPr>
          <p:cNvSpPr>
            <a:spLocks noGrp="1"/>
          </p:cNvSpPr>
          <p:nvPr/>
        </p:nvSpPr>
        <p:spPr>
          <a:xfrm>
            <a:off x="2857500" y="1905000"/>
            <a:ext cx="6858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7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迷宮逃脫：玩家在倒數內通過三個關卡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D094EB9-ED95-4249-A6E1-6858E996CCBA}"/>
              </a:ext>
            </a:extLst>
          </p:cNvPr>
          <p:cNvSpPr>
            <a:spLocks noGrp="1"/>
          </p:cNvSpPr>
          <p:nvPr/>
        </p:nvSpPr>
        <p:spPr>
          <a:xfrm>
            <a:off x="1066800" y="3086100"/>
            <a:ext cx="9429750" cy="19050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A4000248-B31A-4C06-B330-E9FC8431E9D4}"/>
              </a:ext>
            </a:extLst>
          </p:cNvPr>
          <p:cNvSpPr>
            <a:spLocks noGrp="1"/>
          </p:cNvSpPr>
          <p:nvPr/>
        </p:nvSpPr>
        <p:spPr>
          <a:xfrm>
            <a:off x="1066800" y="2590800"/>
            <a:ext cx="1504950" cy="323850"/>
          </a:xfrm>
          <a:prstGeom prst="roundRect">
            <a:avLst>
              <a:gd name="adj" fmla="val 23529"/>
            </a:avLst>
          </a:prstGeom>
          <a:solidFill>
            <a:srgbClr val="334155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0DC5C04-1DDC-4DD1-A013-3DF860297FBF}"/>
              </a:ext>
            </a:extLst>
          </p:cNvPr>
          <p:cNvSpPr>
            <a:spLocks noGrp="1"/>
          </p:cNvSpPr>
          <p:nvPr/>
        </p:nvSpPr>
        <p:spPr>
          <a:xfrm>
            <a:off x="1143000" y="2638425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FSM 狀態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DC9ACD9-7009-4A8E-A2FB-F97CFBBF46DA}"/>
              </a:ext>
            </a:extLst>
          </p:cNvPr>
          <p:cNvSpPr>
            <a:spLocks noGrp="1"/>
          </p:cNvSpPr>
          <p:nvPr/>
        </p:nvSpPr>
        <p:spPr>
          <a:xfrm>
            <a:off x="2857500" y="2571750"/>
            <a:ext cx="6858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7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menu、level_1~3、pause、finish、rank、setting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3C0C840-39EC-47CD-8D5F-88272AFECC98}"/>
              </a:ext>
            </a:extLst>
          </p:cNvPr>
          <p:cNvSpPr>
            <a:spLocks noGrp="1"/>
          </p:cNvSpPr>
          <p:nvPr/>
        </p:nvSpPr>
        <p:spPr>
          <a:xfrm>
            <a:off x="1066800" y="3752850"/>
            <a:ext cx="9429750" cy="19050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372471AC-33C3-4CF3-84B9-6DCE1D99D538}"/>
              </a:ext>
            </a:extLst>
          </p:cNvPr>
          <p:cNvSpPr>
            <a:spLocks noGrp="1"/>
          </p:cNvSpPr>
          <p:nvPr/>
        </p:nvSpPr>
        <p:spPr>
          <a:xfrm>
            <a:off x="1066800" y="3257550"/>
            <a:ext cx="1504950" cy="323850"/>
          </a:xfrm>
          <a:prstGeom prst="roundRect">
            <a:avLst>
              <a:gd name="adj" fmla="val 23529"/>
            </a:avLst>
          </a:prstGeom>
          <a:solidFill>
            <a:srgbClr val="0E7C7B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E7ADD91-70C1-41CC-AB44-400473654E9E}"/>
              </a:ext>
            </a:extLst>
          </p:cNvPr>
          <p:cNvSpPr>
            <a:spLocks noGrp="1"/>
          </p:cNvSpPr>
          <p:nvPr/>
        </p:nvSpPr>
        <p:spPr>
          <a:xfrm>
            <a:off x="1143000" y="3305175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模組化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0D70CAB-1A22-4F6D-8E34-6FB23C9C2F37}"/>
              </a:ext>
            </a:extLst>
          </p:cNvPr>
          <p:cNvSpPr>
            <a:spLocks noGrp="1"/>
          </p:cNvSpPr>
          <p:nvPr/>
        </p:nvSpPr>
        <p:spPr>
          <a:xfrm>
            <a:off x="2857500" y="3238500"/>
            <a:ext cx="6858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7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main 保持簡短，規則、畫面、輸入、音效、分數各自負責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EE785D3-1D86-4D51-8E05-234E53328B4A}"/>
              </a:ext>
            </a:extLst>
          </p:cNvPr>
          <p:cNvSpPr>
            <a:spLocks noGrp="1"/>
          </p:cNvSpPr>
          <p:nvPr/>
        </p:nvSpPr>
        <p:spPr>
          <a:xfrm>
            <a:off x="1066800" y="4419600"/>
            <a:ext cx="9429750" cy="19050"/>
          </a:xfrm>
          <a:prstGeom prst="rect">
            <a:avLst/>
          </a:prstGeom>
          <a:solidFill>
            <a:srgbClr val="E5E7EB"/>
          </a:solidFill>
          <a:ln w="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90B869E6-C5FF-4E84-8531-D959276A4B73}"/>
              </a:ext>
            </a:extLst>
          </p:cNvPr>
          <p:cNvSpPr>
            <a:spLocks noGrp="1"/>
          </p:cNvSpPr>
          <p:nvPr/>
        </p:nvSpPr>
        <p:spPr>
          <a:xfrm>
            <a:off x="1066800" y="3924300"/>
            <a:ext cx="1504950" cy="323850"/>
          </a:xfrm>
          <a:prstGeom prst="roundRect">
            <a:avLst>
              <a:gd name="adj" fmla="val 23529"/>
            </a:avLst>
          </a:prstGeom>
          <a:solidFill>
            <a:srgbClr val="334155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334A0EA-1F30-4FD1-9361-7CA63F5CF157}"/>
              </a:ext>
            </a:extLst>
          </p:cNvPr>
          <p:cNvSpPr>
            <a:spLocks noGrp="1"/>
          </p:cNvSpPr>
          <p:nvPr/>
        </p:nvSpPr>
        <p:spPr>
          <a:xfrm>
            <a:off x="1143000" y="3971925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並行任務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1EB0653-F35A-42E2-ACFB-CC446659B378}"/>
              </a:ext>
            </a:extLst>
          </p:cNvPr>
          <p:cNvSpPr>
            <a:spLocks noGrp="1"/>
          </p:cNvSpPr>
          <p:nvPr/>
        </p:nvSpPr>
        <p:spPr>
          <a:xfrm>
            <a:off x="2857500" y="3905250"/>
            <a:ext cx="6858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7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uasyncio 分離輸入掃描、主迴圈、音效播放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052000C-C8E1-434F-A0D3-58E161CD6A94}"/>
              </a:ext>
            </a:extLst>
          </p:cNvPr>
          <p:cNvSpPr>
            <a:spLocks noGrp="1"/>
          </p:cNvSpPr>
          <p:nvPr/>
        </p:nvSpPr>
        <p:spPr>
          <a:xfrm>
            <a:off x="1066800" y="5086350"/>
            <a:ext cx="9429750" cy="19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圓角矩形 24">
            <a:extLst>
              <a:ext uri="{FF2B5EF4-FFF2-40B4-BE49-F238E27FC236}">
                <a16:creationId xmlns:a16="http://schemas.microsoft.com/office/drawing/2014/main" id="{B1F19DE2-20AB-43B2-89DE-7D586EE9AE37}"/>
              </a:ext>
            </a:extLst>
          </p:cNvPr>
          <p:cNvSpPr>
            <a:spLocks noGrp="1"/>
          </p:cNvSpPr>
          <p:nvPr/>
        </p:nvSpPr>
        <p:spPr>
          <a:xfrm>
            <a:off x="1066800" y="4591050"/>
            <a:ext cx="1504950" cy="323850"/>
          </a:xfrm>
          <a:prstGeom prst="roundRect">
            <a:avLst>
              <a:gd name="adj" fmla="val 23529"/>
            </a:avLst>
          </a:prstGeom>
          <a:solidFill>
            <a:srgbClr val="0E7C7B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23C61B4-5BD3-4F25-B22E-C149F3B9CB7D}"/>
              </a:ext>
            </a:extLst>
          </p:cNvPr>
          <p:cNvSpPr>
            <a:spLocks noGrp="1"/>
          </p:cNvSpPr>
          <p:nvPr/>
        </p:nvSpPr>
        <p:spPr>
          <a:xfrm>
            <a:off x="1143000" y="4638675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資料保存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C4163C6-B7C5-4BAE-AB00-3DB05C00D94A}"/>
              </a:ext>
            </a:extLst>
          </p:cNvPr>
          <p:cNvSpPr>
            <a:spLocks noGrp="1"/>
          </p:cNvSpPr>
          <p:nvPr/>
        </p:nvSpPr>
        <p:spPr>
          <a:xfrm>
            <a:off x="2857500" y="4572000"/>
            <a:ext cx="6858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7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7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scores.json 保存最高五筆與最後一次分數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73D81C5-F3BD-4781-813B-5A7030B2F18C}"/>
              </a:ext>
            </a:extLst>
          </p:cNvPr>
          <p:cNvSpPr>
            <a:spLocks noGrp="1"/>
          </p:cNvSpPr>
          <p:nvPr/>
        </p:nvSpPr>
        <p:spPr>
          <a:xfrm>
            <a:off x="742950" y="5734050"/>
            <a:ext cx="93345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00" b="1">
                <a:solidFill>
                  <a:srgbClr val="D45D4C"/>
                </a:solidFill>
                <a:latin typeface="PingFang TC"/>
                <a:ea typeface="PingFang TC"/>
                <a:cs typeface="PingFang TC"/>
              </a:defRPr>
            </a:pPr>
            <a:r>
              <a:rPr sz="1500" b="1">
                <a:solidFill>
                  <a:srgbClr val="D45D4C"/>
                </a:solidFill>
                <a:latin typeface="PingFang TC"/>
                <a:ea typeface="PingFang TC"/>
                <a:cs typeface="PingFang TC"/>
              </a:rPr>
              <a:t>報告重點：用狀態機、模組分工與非阻塞任務，完成一個可玩的迷宮逃脫遊戲。</a:t>
            </a:r>
          </a:p>
        </p:txBody>
      </p:sp>
    </p:spTree>
    <p:extLst>
      <p:ext uri="{BB962C8B-B14F-4D97-AF65-F5344CB8AC3E}">
        <p14:creationId xmlns:p14="http://schemas.microsoft.com/office/powerpoint/2010/main" val="2122122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BA9D9566-D7F0-415E-9E6B-441A75D565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02A4D7F-ED1C-44FA-BEAB-F98336C87B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A79A88D-2B79-4927-8464-37C95609E313}"/>
              </a:ext>
            </a:extLst>
          </p:cNvPr>
          <p:cNvSpPr>
            <a:spLocks noGrp="1"/>
          </p:cNvSpPr>
          <p:nvPr/>
        </p:nvSpPr>
        <p:spPr>
          <a:xfrm>
            <a:off x="11315700" y="6419850"/>
            <a:ext cx="419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181C4B7-2CD7-4927-9BDE-F1B799351446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MAZE QUEST Final Project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DB67B95-57B5-4B50-8958-7AEE64FFC028}"/>
              </a:ext>
            </a:extLst>
          </p:cNvPr>
          <p:cNvSpPr>
            <a:spLocks noGrp="1"/>
          </p:cNvSpPr>
          <p:nvPr/>
        </p:nvSpPr>
        <p:spPr>
          <a:xfrm>
            <a:off x="666750" y="4191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E7C7B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0E7C7B"/>
                </a:solidFill>
                <a:latin typeface="PingFang TC"/>
                <a:ea typeface="PingFang TC"/>
                <a:cs typeface="PingFang TC"/>
              </a:rPr>
              <a:t>GAME LOOP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A02DF57-53DC-47B4-8E19-6B0DA701C283}"/>
              </a:ext>
            </a:extLst>
          </p:cNvPr>
          <p:cNvSpPr>
            <a:spLocks noGrp="1"/>
          </p:cNvSpPr>
          <p:nvPr/>
        </p:nvSpPr>
        <p:spPr>
          <a:xfrm>
            <a:off x="666750" y="723900"/>
            <a:ext cx="9334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玩法與計分規則讓遊戲有明確目標。</a:t>
            </a: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D81F202A-21D6-4E4E-B20E-EBB7AE997CF4}"/>
              </a:ext>
            </a:extLst>
          </p:cNvPr>
          <p:cNvSpPr>
            <a:spLocks noGrp="1"/>
          </p:cNvSpPr>
          <p:nvPr/>
        </p:nvSpPr>
        <p:spPr>
          <a:xfrm>
            <a:off x="781050" y="2000250"/>
            <a:ext cx="1504950" cy="819150"/>
          </a:xfrm>
          <a:prstGeom prst="roundRect">
            <a:avLst>
              <a:gd name="adj" fmla="val 9302"/>
            </a:avLst>
          </a:prstGeom>
          <a:solidFill>
            <a:srgbClr val="DDEFE8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7F4F0AC-E80E-4189-ACDC-971B349EE91F}"/>
              </a:ext>
            </a:extLst>
          </p:cNvPr>
          <p:cNvSpPr>
            <a:spLocks noGrp="1"/>
          </p:cNvSpPr>
          <p:nvPr/>
        </p:nvSpPr>
        <p:spPr>
          <a:xfrm>
            <a:off x="857250" y="2076450"/>
            <a:ext cx="13525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MENU</a:t>
            </a:r>
          </a:p>
          <a:p>
            <a:pPr algn="ctr"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選擇開始</a:t>
            </a:r>
          </a:p>
        </p:txBody>
      </p:sp>
      <p:sp>
        <p:nvSpPr>
          <p:cNvPr id="9" name="向右箭號 8">
            <a:extLst>
              <a:ext uri="{FF2B5EF4-FFF2-40B4-BE49-F238E27FC236}">
                <a16:creationId xmlns:a16="http://schemas.microsoft.com/office/drawing/2014/main" id="{D08386B5-98B1-407F-ACD5-1A63B73C39B2}"/>
              </a:ext>
            </a:extLst>
          </p:cNvPr>
          <p:cNvSpPr>
            <a:spLocks noGrp="1"/>
          </p:cNvSpPr>
          <p:nvPr/>
        </p:nvSpPr>
        <p:spPr>
          <a:xfrm>
            <a:off x="2324100" y="2305050"/>
            <a:ext cx="704850" cy="266700"/>
          </a:xfrm>
          <a:prstGeom prst="rightArrow">
            <a:avLst/>
          </a:prstGeom>
          <a:solidFill>
            <a:srgbClr val="0E7C7B"/>
          </a:solidFill>
          <a:ln w="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04F120DC-A3AE-4A29-8FF3-77AE8A2F7569}"/>
              </a:ext>
            </a:extLst>
          </p:cNvPr>
          <p:cNvSpPr>
            <a:spLocks noGrp="1"/>
          </p:cNvSpPr>
          <p:nvPr/>
        </p:nvSpPr>
        <p:spPr>
          <a:xfrm>
            <a:off x="2857500" y="2000250"/>
            <a:ext cx="1504950" cy="819150"/>
          </a:xfrm>
          <a:prstGeom prst="roundRect">
            <a:avLst>
              <a:gd name="adj" fmla="val 9302"/>
            </a:avLst>
          </a:prstGeom>
          <a:solidFill>
            <a:srgbClr val="DDE5FF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7EAD61A-343C-417D-84F2-592EB9F7A975}"/>
              </a:ext>
            </a:extLst>
          </p:cNvPr>
          <p:cNvSpPr>
            <a:spLocks noGrp="1"/>
          </p:cNvSpPr>
          <p:nvPr/>
        </p:nvSpPr>
        <p:spPr>
          <a:xfrm>
            <a:off x="2933700" y="2076450"/>
            <a:ext cx="13525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LEVEL 1</a:t>
            </a:r>
          </a:p>
          <a:p>
            <a:pPr algn="ctr"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走到出口</a:t>
            </a:r>
          </a:p>
        </p:txBody>
      </p:sp>
      <p:sp>
        <p:nvSpPr>
          <p:cNvPr id="12" name="向右箭號 11">
            <a:extLst>
              <a:ext uri="{FF2B5EF4-FFF2-40B4-BE49-F238E27FC236}">
                <a16:creationId xmlns:a16="http://schemas.microsoft.com/office/drawing/2014/main" id="{B2B87CD5-3D8F-4319-AB62-CAF58AFCF56E}"/>
              </a:ext>
            </a:extLst>
          </p:cNvPr>
          <p:cNvSpPr>
            <a:spLocks noGrp="1"/>
          </p:cNvSpPr>
          <p:nvPr/>
        </p:nvSpPr>
        <p:spPr>
          <a:xfrm>
            <a:off x="4400550" y="2305050"/>
            <a:ext cx="704850" cy="266700"/>
          </a:xfrm>
          <a:prstGeom prst="rightArrow">
            <a:avLst/>
          </a:prstGeom>
          <a:solidFill>
            <a:srgbClr val="0E7C7B"/>
          </a:solidFill>
          <a:ln w="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0532A711-84F3-41DB-A80A-B2BDEBB130F3}"/>
              </a:ext>
            </a:extLst>
          </p:cNvPr>
          <p:cNvSpPr>
            <a:spLocks noGrp="1"/>
          </p:cNvSpPr>
          <p:nvPr/>
        </p:nvSpPr>
        <p:spPr>
          <a:xfrm>
            <a:off x="4933950" y="2000250"/>
            <a:ext cx="1504950" cy="819150"/>
          </a:xfrm>
          <a:prstGeom prst="roundRect">
            <a:avLst>
              <a:gd name="adj" fmla="val 9302"/>
            </a:avLst>
          </a:prstGeom>
          <a:solidFill>
            <a:srgbClr val="DDE5FF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CB93CB6-2BCF-4F28-8B3E-299892196756}"/>
              </a:ext>
            </a:extLst>
          </p:cNvPr>
          <p:cNvSpPr>
            <a:spLocks noGrp="1"/>
          </p:cNvSpPr>
          <p:nvPr/>
        </p:nvSpPr>
        <p:spPr>
          <a:xfrm>
            <a:off x="5010150" y="2076450"/>
            <a:ext cx="13525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LEVEL 2</a:t>
            </a:r>
          </a:p>
          <a:p>
            <a:pPr algn="ctr"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重設倒數</a:t>
            </a:r>
          </a:p>
        </p:txBody>
      </p:sp>
      <p:sp>
        <p:nvSpPr>
          <p:cNvPr id="15" name="向右箭號 14">
            <a:extLst>
              <a:ext uri="{FF2B5EF4-FFF2-40B4-BE49-F238E27FC236}">
                <a16:creationId xmlns:a16="http://schemas.microsoft.com/office/drawing/2014/main" id="{02B24351-C657-4BB6-AF2B-AEED55BB8641}"/>
              </a:ext>
            </a:extLst>
          </p:cNvPr>
          <p:cNvSpPr>
            <a:spLocks noGrp="1"/>
          </p:cNvSpPr>
          <p:nvPr/>
        </p:nvSpPr>
        <p:spPr>
          <a:xfrm>
            <a:off x="6477000" y="2305050"/>
            <a:ext cx="704850" cy="266700"/>
          </a:xfrm>
          <a:prstGeom prst="rightArrow">
            <a:avLst/>
          </a:prstGeom>
          <a:solidFill>
            <a:srgbClr val="0E7C7B"/>
          </a:solidFill>
          <a:ln w="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6B7E264F-1151-47D2-8EAE-35329FF0D73D}"/>
              </a:ext>
            </a:extLst>
          </p:cNvPr>
          <p:cNvSpPr>
            <a:spLocks noGrp="1"/>
          </p:cNvSpPr>
          <p:nvPr/>
        </p:nvSpPr>
        <p:spPr>
          <a:xfrm>
            <a:off x="7010400" y="2000250"/>
            <a:ext cx="1504950" cy="819150"/>
          </a:xfrm>
          <a:prstGeom prst="roundRect">
            <a:avLst>
              <a:gd name="adj" fmla="val 9302"/>
            </a:avLst>
          </a:prstGeom>
          <a:solidFill>
            <a:srgbClr val="DDE5FF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0B80A7A-B338-458F-9BE6-8D8475C32115}"/>
              </a:ext>
            </a:extLst>
          </p:cNvPr>
          <p:cNvSpPr>
            <a:spLocks noGrp="1"/>
          </p:cNvSpPr>
          <p:nvPr/>
        </p:nvSpPr>
        <p:spPr>
          <a:xfrm>
            <a:off x="7086600" y="2076450"/>
            <a:ext cx="13525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LEVEL 3</a:t>
            </a:r>
          </a:p>
          <a:p>
            <a:pPr algn="ctr"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最後挑戰</a:t>
            </a:r>
          </a:p>
        </p:txBody>
      </p:sp>
      <p:sp>
        <p:nvSpPr>
          <p:cNvPr id="18" name="向右箭號 17">
            <a:extLst>
              <a:ext uri="{FF2B5EF4-FFF2-40B4-BE49-F238E27FC236}">
                <a16:creationId xmlns:a16="http://schemas.microsoft.com/office/drawing/2014/main" id="{79721BF3-57C1-442A-8AD1-1C31AC438844}"/>
              </a:ext>
            </a:extLst>
          </p:cNvPr>
          <p:cNvSpPr>
            <a:spLocks noGrp="1"/>
          </p:cNvSpPr>
          <p:nvPr/>
        </p:nvSpPr>
        <p:spPr>
          <a:xfrm>
            <a:off x="8553450" y="2305050"/>
            <a:ext cx="704850" cy="266700"/>
          </a:xfrm>
          <a:prstGeom prst="rightArrow">
            <a:avLst/>
          </a:prstGeom>
          <a:solidFill>
            <a:srgbClr val="0E7C7B"/>
          </a:solidFill>
          <a:ln w="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56B283DC-9F35-4932-BFE3-18B27796E270}"/>
              </a:ext>
            </a:extLst>
          </p:cNvPr>
          <p:cNvSpPr>
            <a:spLocks noGrp="1"/>
          </p:cNvSpPr>
          <p:nvPr/>
        </p:nvSpPr>
        <p:spPr>
          <a:xfrm>
            <a:off x="9086850" y="2000250"/>
            <a:ext cx="1504950" cy="819150"/>
          </a:xfrm>
          <a:prstGeom prst="roundRect">
            <a:avLst>
              <a:gd name="adj" fmla="val 9302"/>
            </a:avLst>
          </a:prstGeom>
          <a:solidFill>
            <a:srgbClr val="F4D6CF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45473F3-F54B-441E-B806-48E40DB3FEA3}"/>
              </a:ext>
            </a:extLst>
          </p:cNvPr>
          <p:cNvSpPr>
            <a:spLocks noGrp="1"/>
          </p:cNvSpPr>
          <p:nvPr/>
        </p:nvSpPr>
        <p:spPr>
          <a:xfrm>
            <a:off x="9163050" y="2076450"/>
            <a:ext cx="13525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FINISH</a:t>
            </a:r>
          </a:p>
          <a:p>
            <a:pPr algn="ctr">
              <a:def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結算分數</a:t>
            </a:r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FFF401AC-3CB3-46F6-B9C7-ECC739844AC6}"/>
              </a:ext>
            </a:extLst>
          </p:cNvPr>
          <p:cNvSpPr>
            <a:spLocks noGrp="1"/>
          </p:cNvSpPr>
          <p:nvPr/>
        </p:nvSpPr>
        <p:spPr>
          <a:xfrm>
            <a:off x="914400" y="3695700"/>
            <a:ext cx="466725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43F61A0-B4D6-49B0-9417-3E3FE24882D7}"/>
              </a:ext>
            </a:extLst>
          </p:cNvPr>
          <p:cNvSpPr>
            <a:spLocks noGrp="1"/>
          </p:cNvSpPr>
          <p:nvPr/>
        </p:nvSpPr>
        <p:spPr>
          <a:xfrm>
            <a:off x="1162050" y="3886200"/>
            <a:ext cx="2095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650" b="1">
                <a:solidFill>
                  <a:srgbClr val="0E7C7B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0E7C7B"/>
                </a:solidFill>
                <a:latin typeface="PingFang TC"/>
                <a:ea typeface="PingFang TC"/>
                <a:cs typeface="PingFang TC"/>
              </a:rPr>
              <a:t>單關分數公式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A01102E-9544-478A-9B9E-CE773F3B0D0E}"/>
              </a:ext>
            </a:extLst>
          </p:cNvPr>
          <p:cNvSpPr>
            <a:spLocks noGrp="1"/>
          </p:cNvSpPr>
          <p:nvPr/>
        </p:nvSpPr>
        <p:spPr>
          <a:xfrm>
            <a:off x="1162050" y="4286250"/>
            <a:ext cx="4000500" cy="895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基本分 100</a:t>
            </a:r>
          </a:p>
          <a:p>
            <a:pPr algn="l">
              <a:def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剩餘時間 ≤ 20 秒後開始扣分</a:t>
            </a:r>
          </a:p>
          <a:p>
            <a:pPr algn="l">
              <a:def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每多花 1 秒扣 5 分，最低 0 分</a:t>
            </a:r>
          </a:p>
        </p:txBody>
      </p: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979EAAC5-ACAB-435E-9733-6B8D4944BA8B}"/>
              </a:ext>
            </a:extLst>
          </p:cNvPr>
          <p:cNvSpPr>
            <a:spLocks noGrp="1"/>
          </p:cNvSpPr>
          <p:nvPr/>
        </p:nvSpPr>
        <p:spPr>
          <a:xfrm>
            <a:off x="6305550" y="3695700"/>
            <a:ext cx="3429000" cy="161925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27E3012-2323-45DD-B7CA-70A5CE0ABC66}"/>
              </a:ext>
            </a:extLst>
          </p:cNvPr>
          <p:cNvSpPr>
            <a:spLocks noGrp="1"/>
          </p:cNvSpPr>
          <p:nvPr/>
        </p:nvSpPr>
        <p:spPr>
          <a:xfrm>
            <a:off x="6572250" y="3886200"/>
            <a:ext cx="1714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650" b="1">
                <a:solidFill>
                  <a:srgbClr val="D9A441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D9A441"/>
                </a:solidFill>
                <a:latin typeface="PingFang TC"/>
                <a:ea typeface="PingFang TC"/>
                <a:cs typeface="PingFang TC"/>
              </a:rPr>
              <a:t>總分上限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E5E7292-E822-44E0-B8F1-188922817344}"/>
              </a:ext>
            </a:extLst>
          </p:cNvPr>
          <p:cNvSpPr>
            <a:spLocks noGrp="1"/>
          </p:cNvSpPr>
          <p:nvPr/>
        </p:nvSpPr>
        <p:spPr>
          <a:xfrm>
            <a:off x="6572250" y="4343400"/>
            <a:ext cx="26670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20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20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3 關 × 100 分 = 300 分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CCE7795-2994-4722-9203-DFDC9E72E28A}"/>
              </a:ext>
            </a:extLst>
          </p:cNvPr>
          <p:cNvSpPr>
            <a:spLocks noGrp="1"/>
          </p:cNvSpPr>
          <p:nvPr/>
        </p:nvSpPr>
        <p:spPr>
          <a:xfrm>
            <a:off x="6572250" y="4876800"/>
            <a:ext cx="2476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275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時間壓力直接反映在分數上。</a:t>
            </a:r>
          </a:p>
        </p:txBody>
      </p:sp>
    </p:spTree>
    <p:extLst>
      <p:ext uri="{BB962C8B-B14F-4D97-AF65-F5344CB8AC3E}">
        <p14:creationId xmlns:p14="http://schemas.microsoft.com/office/powerpoint/2010/main" val="1195518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E8882EC9-90A3-448A-A77B-2B1CD8DEBA5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9F8E1F6-363A-41CE-8089-A1C45B8071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9225950-35A8-4066-A122-D413301633E9}"/>
              </a:ext>
            </a:extLst>
          </p:cNvPr>
          <p:cNvSpPr>
            <a:spLocks noGrp="1"/>
          </p:cNvSpPr>
          <p:nvPr/>
        </p:nvSpPr>
        <p:spPr>
          <a:xfrm>
            <a:off x="11315700" y="6419850"/>
            <a:ext cx="419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E1E55FA-7D26-4CEE-918F-3F960D2C115F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MAZE QUEST Final Project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091FA0D-C9D0-4514-9F09-07C4E506F27B}"/>
              </a:ext>
            </a:extLst>
          </p:cNvPr>
          <p:cNvSpPr>
            <a:spLocks noGrp="1"/>
          </p:cNvSpPr>
          <p:nvPr/>
        </p:nvSpPr>
        <p:spPr>
          <a:xfrm>
            <a:off x="666750" y="4191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E7C7B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0E7C7B"/>
                </a:solidFill>
                <a:latin typeface="PingFang TC"/>
                <a:ea typeface="PingFang TC"/>
                <a:cs typeface="PingFang TC"/>
              </a:rPr>
              <a:t>ARCHITECTURE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AB01387-7EB1-48CD-95D9-497C64566436}"/>
              </a:ext>
            </a:extLst>
          </p:cNvPr>
          <p:cNvSpPr>
            <a:spLocks noGrp="1"/>
          </p:cNvSpPr>
          <p:nvPr/>
        </p:nvSpPr>
        <p:spPr>
          <a:xfrm>
            <a:off x="666750" y="723900"/>
            <a:ext cx="9334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GameEngine 只管規則，其他模組各自完成自己的工作。</a:t>
            </a: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BC546746-7C85-4313-8B3C-E764CB9C24C7}"/>
              </a:ext>
            </a:extLst>
          </p:cNvPr>
          <p:cNvSpPr>
            <a:spLocks noGrp="1"/>
          </p:cNvSpPr>
          <p:nvPr/>
        </p:nvSpPr>
        <p:spPr>
          <a:xfrm>
            <a:off x="876300" y="1809750"/>
            <a:ext cx="1714500" cy="781050"/>
          </a:xfrm>
          <a:prstGeom prst="roundRect">
            <a:avLst>
              <a:gd name="adj" fmla="val 9756"/>
            </a:avLst>
          </a:prstGeom>
          <a:solidFill>
            <a:srgbClr val="DDEFE8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573890A-6836-4F61-A74C-589F1ED375AF}"/>
              </a:ext>
            </a:extLst>
          </p:cNvPr>
          <p:cNvSpPr>
            <a:spLocks noGrp="1"/>
          </p:cNvSpPr>
          <p:nvPr/>
        </p:nvSpPr>
        <p:spPr>
          <a:xfrm>
            <a:off x="952500" y="1885950"/>
            <a:ext cx="15621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14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main.py</a:t>
            </a:r>
          </a:p>
          <a:p>
            <a:pPr algn="ctr">
              <a:defRPr sz="14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建立物件與任務</a:t>
            </a:r>
          </a:p>
        </p:txBody>
      </p:sp>
      <p:sp>
        <p:nvSpPr>
          <p:cNvPr id="9" name="圓角矩形 8">
            <a:extLst>
              <a:ext uri="{FF2B5EF4-FFF2-40B4-BE49-F238E27FC236}">
                <a16:creationId xmlns:a16="http://schemas.microsoft.com/office/drawing/2014/main" id="{6D899391-8560-4A9C-93D9-2D691184A6CE}"/>
              </a:ext>
            </a:extLst>
          </p:cNvPr>
          <p:cNvSpPr>
            <a:spLocks noGrp="1"/>
          </p:cNvSpPr>
          <p:nvPr/>
        </p:nvSpPr>
        <p:spPr>
          <a:xfrm>
            <a:off x="895350" y="3390900"/>
            <a:ext cx="16002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1213B5-BB42-4380-AFB9-322EA879CE75}"/>
              </a:ext>
            </a:extLst>
          </p:cNvPr>
          <p:cNvSpPr>
            <a:spLocks noGrp="1"/>
          </p:cNvSpPr>
          <p:nvPr/>
        </p:nvSpPr>
        <p:spPr>
          <a:xfrm>
            <a:off x="971550" y="3467100"/>
            <a:ext cx="14478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14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InputUnit</a:t>
            </a:r>
          </a:p>
          <a:p>
            <a:pPr algn="ctr">
              <a:defRPr sz="14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事件佇列</a:t>
            </a:r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A8854C64-12A2-4744-A517-3147D1B8C0C8}"/>
              </a:ext>
            </a:extLst>
          </p:cNvPr>
          <p:cNvSpPr>
            <a:spLocks noGrp="1"/>
          </p:cNvSpPr>
          <p:nvPr/>
        </p:nvSpPr>
        <p:spPr>
          <a:xfrm>
            <a:off x="895350" y="4324350"/>
            <a:ext cx="160020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7850D44-DF57-496F-B7CD-DC0E30142B87}"/>
              </a:ext>
            </a:extLst>
          </p:cNvPr>
          <p:cNvSpPr>
            <a:spLocks noGrp="1"/>
          </p:cNvSpPr>
          <p:nvPr/>
        </p:nvSpPr>
        <p:spPr>
          <a:xfrm>
            <a:off x="971550" y="4400550"/>
            <a:ext cx="14478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14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Joystick</a:t>
            </a:r>
          </a:p>
          <a:p>
            <a:pPr algn="ctr">
              <a:defRPr sz="14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direction()</a:t>
            </a: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F5888DA0-0BF2-448D-BAFD-2FD76F9B0F7A}"/>
              </a:ext>
            </a:extLst>
          </p:cNvPr>
          <p:cNvSpPr>
            <a:spLocks noGrp="1"/>
          </p:cNvSpPr>
          <p:nvPr/>
        </p:nvSpPr>
        <p:spPr>
          <a:xfrm>
            <a:off x="4457700" y="2647950"/>
            <a:ext cx="2343150" cy="1066800"/>
          </a:xfrm>
          <a:prstGeom prst="roundRect">
            <a:avLst>
              <a:gd name="adj" fmla="val 7143"/>
            </a:avLst>
          </a:prstGeom>
          <a:solidFill>
            <a:srgbClr val="DDE5FF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4B456FB-CB81-4ACC-A34D-20ED2BFFCAA8}"/>
              </a:ext>
            </a:extLst>
          </p:cNvPr>
          <p:cNvSpPr>
            <a:spLocks noGrp="1"/>
          </p:cNvSpPr>
          <p:nvPr/>
        </p:nvSpPr>
        <p:spPr>
          <a:xfrm>
            <a:off x="4533900" y="2724150"/>
            <a:ext cx="219075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157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GameEngine</a:t>
            </a:r>
          </a:p>
          <a:p>
            <a:pPr algn="ctr">
              <a:defRPr sz="157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7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FSM / 分數 / 關卡</a:t>
            </a:r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3ABAA530-0226-431B-BADC-A20AA35837D9}"/>
              </a:ext>
            </a:extLst>
          </p:cNvPr>
          <p:cNvSpPr>
            <a:spLocks noGrp="1"/>
          </p:cNvSpPr>
          <p:nvPr/>
        </p:nvSpPr>
        <p:spPr>
          <a:xfrm>
            <a:off x="8477250" y="1790700"/>
            <a:ext cx="20955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F38D1E2-5980-4B24-BE04-02DEDF39BDDC}"/>
              </a:ext>
            </a:extLst>
          </p:cNvPr>
          <p:cNvSpPr>
            <a:spLocks noGrp="1"/>
          </p:cNvSpPr>
          <p:nvPr/>
        </p:nvSpPr>
        <p:spPr>
          <a:xfrm>
            <a:off x="8553450" y="1866900"/>
            <a:ext cx="19431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14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DisplayUnit</a:t>
            </a:r>
          </a:p>
          <a:p>
            <a:pPr algn="ctr">
              <a:defRPr sz="14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render(snapshot)</a:t>
            </a:r>
          </a:p>
        </p:txBody>
      </p:sp>
      <p:sp>
        <p:nvSpPr>
          <p:cNvPr id="17" name="圓角矩形 16">
            <a:extLst>
              <a:ext uri="{FF2B5EF4-FFF2-40B4-BE49-F238E27FC236}">
                <a16:creationId xmlns:a16="http://schemas.microsoft.com/office/drawing/2014/main" id="{249F8529-50C2-47C0-BF4E-8D7534B2FD29}"/>
              </a:ext>
            </a:extLst>
          </p:cNvPr>
          <p:cNvSpPr>
            <a:spLocks noGrp="1"/>
          </p:cNvSpPr>
          <p:nvPr/>
        </p:nvSpPr>
        <p:spPr>
          <a:xfrm>
            <a:off x="8477250" y="3009900"/>
            <a:ext cx="20955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9B48A16-1351-4EC0-AACA-274F918C5313}"/>
              </a:ext>
            </a:extLst>
          </p:cNvPr>
          <p:cNvSpPr>
            <a:spLocks noGrp="1"/>
          </p:cNvSpPr>
          <p:nvPr/>
        </p:nvSpPr>
        <p:spPr>
          <a:xfrm>
            <a:off x="8553450" y="3086100"/>
            <a:ext cx="19431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14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SoundManager</a:t>
            </a:r>
          </a:p>
          <a:p>
            <a:pPr algn="ctr">
              <a:defRPr sz="14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play_bgm/effect</a:t>
            </a:r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BDED0427-644B-443D-A82F-E9919098356E}"/>
              </a:ext>
            </a:extLst>
          </p:cNvPr>
          <p:cNvSpPr>
            <a:spLocks noGrp="1"/>
          </p:cNvSpPr>
          <p:nvPr/>
        </p:nvSpPr>
        <p:spPr>
          <a:xfrm>
            <a:off x="8477250" y="4229100"/>
            <a:ext cx="2095500" cy="74295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DD6D631-0E7B-4BD5-BA8B-A592E305DF00}"/>
              </a:ext>
            </a:extLst>
          </p:cNvPr>
          <p:cNvSpPr>
            <a:spLocks noGrp="1"/>
          </p:cNvSpPr>
          <p:nvPr/>
        </p:nvSpPr>
        <p:spPr>
          <a:xfrm>
            <a:off x="8553450" y="4305300"/>
            <a:ext cx="19431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14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ScoreManager</a:t>
            </a:r>
          </a:p>
          <a:p>
            <a:pPr algn="ctr">
              <a:defRPr sz="142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scores.json</a:t>
            </a:r>
          </a:p>
        </p:txBody>
      </p:sp>
      <p:sp>
        <p:nvSpPr>
          <p:cNvPr id="21" name="向右箭號 20">
            <a:extLst>
              <a:ext uri="{FF2B5EF4-FFF2-40B4-BE49-F238E27FC236}">
                <a16:creationId xmlns:a16="http://schemas.microsoft.com/office/drawing/2014/main" id="{7D3F2E25-26FC-4EA3-B11C-1EB54A307127}"/>
              </a:ext>
            </a:extLst>
          </p:cNvPr>
          <p:cNvSpPr>
            <a:spLocks noGrp="1"/>
          </p:cNvSpPr>
          <p:nvPr/>
        </p:nvSpPr>
        <p:spPr>
          <a:xfrm>
            <a:off x="2667000" y="3581400"/>
            <a:ext cx="1428750" cy="247650"/>
          </a:xfrm>
          <a:prstGeom prst="rightArrow">
            <a:avLst/>
          </a:prstGeom>
          <a:solidFill>
            <a:srgbClr val="0E7C7B"/>
          </a:solidFill>
          <a:ln w="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向右箭號 21">
            <a:extLst>
              <a:ext uri="{FF2B5EF4-FFF2-40B4-BE49-F238E27FC236}">
                <a16:creationId xmlns:a16="http://schemas.microsoft.com/office/drawing/2014/main" id="{1FA0D1D6-468C-44CB-BFCB-66AD98400ED2}"/>
              </a:ext>
            </a:extLst>
          </p:cNvPr>
          <p:cNvSpPr>
            <a:spLocks noGrp="1"/>
          </p:cNvSpPr>
          <p:nvPr/>
        </p:nvSpPr>
        <p:spPr>
          <a:xfrm>
            <a:off x="6896100" y="2038350"/>
            <a:ext cx="1333500" cy="247650"/>
          </a:xfrm>
          <a:prstGeom prst="rightArrow">
            <a:avLst/>
          </a:prstGeom>
          <a:solidFill>
            <a:srgbClr val="0E7C7B"/>
          </a:solidFill>
          <a:ln w="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向右箭號 22">
            <a:extLst>
              <a:ext uri="{FF2B5EF4-FFF2-40B4-BE49-F238E27FC236}">
                <a16:creationId xmlns:a16="http://schemas.microsoft.com/office/drawing/2014/main" id="{BB88D254-17F9-4C63-9EC7-B9AC2D33FDA3}"/>
              </a:ext>
            </a:extLst>
          </p:cNvPr>
          <p:cNvSpPr>
            <a:spLocks noGrp="1"/>
          </p:cNvSpPr>
          <p:nvPr/>
        </p:nvSpPr>
        <p:spPr>
          <a:xfrm>
            <a:off x="6896100" y="3238500"/>
            <a:ext cx="1333500" cy="247650"/>
          </a:xfrm>
          <a:prstGeom prst="rightArrow">
            <a:avLst/>
          </a:prstGeom>
          <a:solidFill>
            <a:srgbClr val="D9A441"/>
          </a:solidFill>
          <a:ln w="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向右箭號 23">
            <a:extLst>
              <a:ext uri="{FF2B5EF4-FFF2-40B4-BE49-F238E27FC236}">
                <a16:creationId xmlns:a16="http://schemas.microsoft.com/office/drawing/2014/main" id="{96AAF3FE-E546-46EC-94F4-54A2099C4013}"/>
              </a:ext>
            </a:extLst>
          </p:cNvPr>
          <p:cNvSpPr>
            <a:spLocks noGrp="1"/>
          </p:cNvSpPr>
          <p:nvPr/>
        </p:nvSpPr>
        <p:spPr>
          <a:xfrm>
            <a:off x="6896100" y="4457700"/>
            <a:ext cx="1333500" cy="247650"/>
          </a:xfrm>
          <a:prstGeom prst="rightArrow">
            <a:avLst/>
          </a:prstGeom>
          <a:solidFill>
            <a:srgbClr val="D45D4C"/>
          </a:solidFill>
          <a:ln w="0">
            <a:solidFill>
              <a:srgbClr val="D45D4C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2460CE9-A31C-4244-989F-6C9046BB3D53}"/>
              </a:ext>
            </a:extLst>
          </p:cNvPr>
          <p:cNvSpPr>
            <a:spLocks noGrp="1"/>
          </p:cNvSpPr>
          <p:nvPr/>
        </p:nvSpPr>
        <p:spPr>
          <a:xfrm>
            <a:off x="3105150" y="3295650"/>
            <a:ext cx="857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0E7C7B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0E7C7B"/>
                </a:solidFill>
                <a:latin typeface="PingFang TC"/>
                <a:ea typeface="PingFang TC"/>
                <a:cs typeface="PingFang TC"/>
              </a:rPr>
              <a:t>events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33AD1D1-6199-4379-B314-123E38E0D3F2}"/>
              </a:ext>
            </a:extLst>
          </p:cNvPr>
          <p:cNvSpPr>
            <a:spLocks noGrp="1"/>
          </p:cNvSpPr>
          <p:nvPr/>
        </p:nvSpPr>
        <p:spPr>
          <a:xfrm>
            <a:off x="7162800" y="1752600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0E7C7B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0E7C7B"/>
                </a:solidFill>
                <a:latin typeface="PingFang TC"/>
                <a:ea typeface="PingFang TC"/>
                <a:cs typeface="PingFang TC"/>
              </a:rPr>
              <a:t>snapshot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BFF4135-29C3-43DA-B5B0-F0DA61ED120B}"/>
              </a:ext>
            </a:extLst>
          </p:cNvPr>
          <p:cNvSpPr>
            <a:spLocks noGrp="1"/>
          </p:cNvSpPr>
          <p:nvPr/>
        </p:nvSpPr>
        <p:spPr>
          <a:xfrm>
            <a:off x="7010400" y="2952750"/>
            <a:ext cx="12382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D9A441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9A441"/>
                </a:solidFill>
                <a:latin typeface="PingFang TC"/>
                <a:ea typeface="PingFang TC"/>
                <a:cs typeface="PingFang TC"/>
              </a:rPr>
              <a:t>sound events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8F8E0E1-C806-4B2F-B397-84573CEFF025}"/>
              </a:ext>
            </a:extLst>
          </p:cNvPr>
          <p:cNvSpPr>
            <a:spLocks noGrp="1"/>
          </p:cNvSpPr>
          <p:nvPr/>
        </p:nvSpPr>
        <p:spPr>
          <a:xfrm>
            <a:off x="6991350" y="4171950"/>
            <a:ext cx="1295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125" b="1">
                <a:solidFill>
                  <a:srgbClr val="D45D4C"/>
                </a:solidFill>
                <a:latin typeface="PingFang TC"/>
                <a:ea typeface="PingFang TC"/>
                <a:cs typeface="PingFang TC"/>
              </a:defRPr>
            </a:pPr>
            <a:r>
              <a:rPr sz="1125" b="1">
                <a:solidFill>
                  <a:srgbClr val="D45D4C"/>
                </a:solidFill>
                <a:latin typeface="PingFang TC"/>
                <a:ea typeface="PingFang TC"/>
                <a:cs typeface="PingFang TC"/>
              </a:rPr>
              <a:t>score to save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3F8D30A-63F0-4D7E-A2F9-4AF3FCA35F50}"/>
              </a:ext>
            </a:extLst>
          </p:cNvPr>
          <p:cNvSpPr>
            <a:spLocks noGrp="1"/>
          </p:cNvSpPr>
          <p:nvPr/>
        </p:nvSpPr>
        <p:spPr>
          <a:xfrm>
            <a:off x="990600" y="5676900"/>
            <a:ext cx="914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650" b="1">
                <a:solidFill>
                  <a:srgbClr val="33415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34155"/>
                </a:solidFill>
                <a:latin typeface="PingFang TC"/>
                <a:ea typeface="PingFang TC"/>
                <a:cs typeface="PingFang TC"/>
              </a:rPr>
              <a:t>好處：顯示模組不改遊戲狀態；音效模組不阻塞規則；分數寫檔集中管理。</a:t>
            </a:r>
          </a:p>
        </p:txBody>
      </p:sp>
    </p:spTree>
    <p:extLst>
      <p:ext uri="{BB962C8B-B14F-4D97-AF65-F5344CB8AC3E}">
        <p14:creationId xmlns:p14="http://schemas.microsoft.com/office/powerpoint/2010/main" val="17158456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>
            <a:extLst>
              <a:ext uri="{FF2B5EF4-FFF2-40B4-BE49-F238E27FC236}">
                <a16:creationId xmlns:a16="http://schemas.microsoft.com/office/drawing/2014/main" id="{8EBCE6D0-4360-45FB-BD59-08304E2B863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19B3C33-4565-480D-B010-BE32A8770C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A81AAE5-760B-472A-B85E-3332A248CA0B}"/>
              </a:ext>
            </a:extLst>
          </p:cNvPr>
          <p:cNvSpPr>
            <a:spLocks noGrp="1"/>
          </p:cNvSpPr>
          <p:nvPr/>
        </p:nvSpPr>
        <p:spPr>
          <a:xfrm>
            <a:off x="11315700" y="6419850"/>
            <a:ext cx="419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5D24F2C-02D4-4DCD-AC81-13F7EB415782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MAZE QUEST Final Project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02043CE-BC05-401E-8D88-68D23AF1D738}"/>
              </a:ext>
            </a:extLst>
          </p:cNvPr>
          <p:cNvSpPr>
            <a:spLocks noGrp="1"/>
          </p:cNvSpPr>
          <p:nvPr/>
        </p:nvSpPr>
        <p:spPr>
          <a:xfrm>
            <a:off x="666750" y="4191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E7C7B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0E7C7B"/>
                </a:solidFill>
                <a:latin typeface="PingFang TC"/>
                <a:ea typeface="PingFang TC"/>
                <a:cs typeface="PingFang TC"/>
              </a:rPr>
              <a:t>ASYNC FLOW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23B2CCB-F79C-42B9-A561-634CC2C1F283}"/>
              </a:ext>
            </a:extLst>
          </p:cNvPr>
          <p:cNvSpPr>
            <a:spLocks noGrp="1"/>
          </p:cNvSpPr>
          <p:nvPr/>
        </p:nvSpPr>
        <p:spPr>
          <a:xfrm>
            <a:off x="666750" y="723900"/>
            <a:ext cx="9334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uasyncio 讓輸入、主迴圈與音效可以同時前進。</a:t>
            </a: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788A3CA3-3340-40B7-84C4-AF95D0E40725}"/>
              </a:ext>
            </a:extLst>
          </p:cNvPr>
          <p:cNvSpPr>
            <a:spLocks noGrp="1"/>
          </p:cNvSpPr>
          <p:nvPr/>
        </p:nvSpPr>
        <p:spPr>
          <a:xfrm>
            <a:off x="819150" y="1809750"/>
            <a:ext cx="99060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5A03BD4-E5A1-443B-809F-6E898D9DD09B}"/>
              </a:ext>
            </a:extLst>
          </p:cNvPr>
          <p:cNvSpPr>
            <a:spLocks noGrp="1"/>
          </p:cNvSpPr>
          <p:nvPr/>
        </p:nvSpPr>
        <p:spPr>
          <a:xfrm>
            <a:off x="819150" y="1809750"/>
            <a:ext cx="114300" cy="876300"/>
          </a:xfrm>
          <a:prstGeom prst="rect">
            <a:avLst/>
          </a:prstGeom>
          <a:solidFill>
            <a:srgbClr val="0E7C7B"/>
          </a:solidFill>
          <a:ln w="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72BDDA-21F7-44CD-A2E9-914D8EC9251A}"/>
              </a:ext>
            </a:extLst>
          </p:cNvPr>
          <p:cNvSpPr>
            <a:spLocks noGrp="1"/>
          </p:cNvSpPr>
          <p:nvPr/>
        </p:nvSpPr>
        <p:spPr>
          <a:xfrm>
            <a:off x="1162050" y="1981200"/>
            <a:ext cx="1809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950" b="1">
                <a:solidFill>
                  <a:srgbClr val="0E7C7B"/>
                </a:solidFill>
                <a:latin typeface="Menlo"/>
                <a:ea typeface="Menlo"/>
                <a:cs typeface="Menlo"/>
              </a:defRPr>
            </a:pPr>
            <a:r>
              <a:rPr sz="1950" b="1">
                <a:solidFill>
                  <a:srgbClr val="0E7C7B"/>
                </a:solidFill>
                <a:latin typeface="Menlo"/>
                <a:ea typeface="Menlo"/>
                <a:cs typeface="Menlo"/>
              </a:rPr>
              <a:t>input_task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FAC11E5-0438-4B86-8004-F9D5A89E7169}"/>
              </a:ext>
            </a:extLst>
          </p:cNvPr>
          <p:cNvSpPr>
            <a:spLocks noGrp="1"/>
          </p:cNvSpPr>
          <p:nvPr/>
        </p:nvSpPr>
        <p:spPr>
          <a:xfrm>
            <a:off x="3276600" y="1962150"/>
            <a:ext cx="4953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每 20 ms 掃描按鈕與搖桿</a:t>
            </a:r>
          </a:p>
          <a:p>
            <a:pPr algn="l">
              <a:defRPr sz="15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push_event() 存入事件佇列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EAFCCA4-6446-40FA-B1AA-E1FFD9A2B50B}"/>
              </a:ext>
            </a:extLst>
          </p:cNvPr>
          <p:cNvSpPr>
            <a:spLocks noGrp="1"/>
          </p:cNvSpPr>
          <p:nvPr/>
        </p:nvSpPr>
        <p:spPr>
          <a:xfrm>
            <a:off x="8420100" y="2171700"/>
            <a:ext cx="85725" cy="171450"/>
          </a:xfrm>
          <a:prstGeom prst="rect">
            <a:avLst/>
          </a:prstGeom>
          <a:solidFill>
            <a:srgbClr val="0E7C7B"/>
          </a:solidFill>
          <a:ln w="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83B9409-DD74-45C7-BB5C-3B5A75403390}"/>
              </a:ext>
            </a:extLst>
          </p:cNvPr>
          <p:cNvSpPr>
            <a:spLocks noGrp="1"/>
          </p:cNvSpPr>
          <p:nvPr/>
        </p:nvSpPr>
        <p:spPr>
          <a:xfrm>
            <a:off x="8572500" y="2171700"/>
            <a:ext cx="85725" cy="171450"/>
          </a:xfrm>
          <a:prstGeom prst="rect">
            <a:avLst/>
          </a:prstGeom>
          <a:solidFill>
            <a:srgbClr val="0E7C7B"/>
          </a:solidFill>
          <a:ln w="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14932B7-7407-4A1A-B04C-06CBFE9B66B8}"/>
              </a:ext>
            </a:extLst>
          </p:cNvPr>
          <p:cNvSpPr>
            <a:spLocks noGrp="1"/>
          </p:cNvSpPr>
          <p:nvPr/>
        </p:nvSpPr>
        <p:spPr>
          <a:xfrm>
            <a:off x="8724900" y="2171700"/>
            <a:ext cx="85725" cy="171450"/>
          </a:xfrm>
          <a:prstGeom prst="rect">
            <a:avLst/>
          </a:prstGeom>
          <a:solidFill>
            <a:srgbClr val="0E7C7B"/>
          </a:solidFill>
          <a:ln w="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1560DCA-2884-4187-AEF6-D08139DF7C9C}"/>
              </a:ext>
            </a:extLst>
          </p:cNvPr>
          <p:cNvSpPr>
            <a:spLocks noGrp="1"/>
          </p:cNvSpPr>
          <p:nvPr/>
        </p:nvSpPr>
        <p:spPr>
          <a:xfrm>
            <a:off x="8877300" y="2171700"/>
            <a:ext cx="85725" cy="171450"/>
          </a:xfrm>
          <a:prstGeom prst="rect">
            <a:avLst/>
          </a:prstGeom>
          <a:solidFill>
            <a:srgbClr val="0E7C7B"/>
          </a:solidFill>
          <a:ln w="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AC1B5AE-1F51-4537-8BC0-5E2453A5B3B3}"/>
              </a:ext>
            </a:extLst>
          </p:cNvPr>
          <p:cNvSpPr>
            <a:spLocks noGrp="1"/>
          </p:cNvSpPr>
          <p:nvPr/>
        </p:nvSpPr>
        <p:spPr>
          <a:xfrm>
            <a:off x="9029700" y="2171700"/>
            <a:ext cx="85725" cy="171450"/>
          </a:xfrm>
          <a:prstGeom prst="rect">
            <a:avLst/>
          </a:prstGeom>
          <a:solidFill>
            <a:srgbClr val="0E7C7B"/>
          </a:solidFill>
          <a:ln w="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D058BB0-58FF-4D3C-AF10-6159BCA9188F}"/>
              </a:ext>
            </a:extLst>
          </p:cNvPr>
          <p:cNvSpPr>
            <a:spLocks noGrp="1"/>
          </p:cNvSpPr>
          <p:nvPr/>
        </p:nvSpPr>
        <p:spPr>
          <a:xfrm>
            <a:off x="9182100" y="2171700"/>
            <a:ext cx="85725" cy="171450"/>
          </a:xfrm>
          <a:prstGeom prst="rect">
            <a:avLst/>
          </a:prstGeom>
          <a:solidFill>
            <a:srgbClr val="0E7C7B"/>
          </a:solidFill>
          <a:ln w="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147BAC3-DD19-4C9D-95EB-D3CE91BB9794}"/>
              </a:ext>
            </a:extLst>
          </p:cNvPr>
          <p:cNvSpPr>
            <a:spLocks noGrp="1"/>
          </p:cNvSpPr>
          <p:nvPr/>
        </p:nvSpPr>
        <p:spPr>
          <a:xfrm>
            <a:off x="9334500" y="2171700"/>
            <a:ext cx="85725" cy="171450"/>
          </a:xfrm>
          <a:prstGeom prst="rect">
            <a:avLst/>
          </a:prstGeom>
          <a:solidFill>
            <a:srgbClr val="0E7C7B"/>
          </a:solidFill>
          <a:ln w="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圓角矩形 17">
            <a:extLst>
              <a:ext uri="{FF2B5EF4-FFF2-40B4-BE49-F238E27FC236}">
                <a16:creationId xmlns:a16="http://schemas.microsoft.com/office/drawing/2014/main" id="{A1152D78-DFB8-4C84-A701-FFA41BE5B201}"/>
              </a:ext>
            </a:extLst>
          </p:cNvPr>
          <p:cNvSpPr>
            <a:spLocks noGrp="1"/>
          </p:cNvSpPr>
          <p:nvPr/>
        </p:nvSpPr>
        <p:spPr>
          <a:xfrm>
            <a:off x="819150" y="3143250"/>
            <a:ext cx="99060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15A4A0B-F8EB-4A7A-B9FE-48683A772D1E}"/>
              </a:ext>
            </a:extLst>
          </p:cNvPr>
          <p:cNvSpPr>
            <a:spLocks noGrp="1"/>
          </p:cNvSpPr>
          <p:nvPr/>
        </p:nvSpPr>
        <p:spPr>
          <a:xfrm>
            <a:off x="819150" y="3143250"/>
            <a:ext cx="114300" cy="876300"/>
          </a:xfrm>
          <a:prstGeom prst="rect">
            <a:avLst/>
          </a:prstGeom>
          <a:solidFill>
            <a:srgbClr val="4968D8"/>
          </a:solidFill>
          <a:ln w="0">
            <a:solidFill>
              <a:srgbClr val="4968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2623A1A-089D-4147-A9D4-0FFA19277970}"/>
              </a:ext>
            </a:extLst>
          </p:cNvPr>
          <p:cNvSpPr>
            <a:spLocks noGrp="1"/>
          </p:cNvSpPr>
          <p:nvPr/>
        </p:nvSpPr>
        <p:spPr>
          <a:xfrm>
            <a:off x="1162050" y="3314700"/>
            <a:ext cx="1809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950" b="1">
                <a:solidFill>
                  <a:srgbClr val="4968D8"/>
                </a:solidFill>
                <a:latin typeface="Menlo"/>
                <a:ea typeface="Menlo"/>
                <a:cs typeface="Menlo"/>
              </a:defRPr>
            </a:pPr>
            <a:r>
              <a:rPr sz="1950" b="1">
                <a:solidFill>
                  <a:srgbClr val="4968D8"/>
                </a:solidFill>
                <a:latin typeface="Menlo"/>
                <a:ea typeface="Menlo"/>
                <a:cs typeface="Menlo"/>
              </a:rPr>
              <a:t>game_loop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88B0ED8-6353-42B7-8183-582D3884AE31}"/>
              </a:ext>
            </a:extLst>
          </p:cNvPr>
          <p:cNvSpPr>
            <a:spLocks noGrp="1"/>
          </p:cNvSpPr>
          <p:nvPr/>
        </p:nvSpPr>
        <p:spPr>
          <a:xfrm>
            <a:off x="3276600" y="3295650"/>
            <a:ext cx="4953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每 50 ms read_events()</a:t>
            </a:r>
          </a:p>
          <a:p>
            <a:pPr algn="l">
              <a:defRPr sz="15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update FSM、存分數、render 畫面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7FEE43E-53A0-45EB-A897-B3EC81AF66DE}"/>
              </a:ext>
            </a:extLst>
          </p:cNvPr>
          <p:cNvSpPr>
            <a:spLocks noGrp="1"/>
          </p:cNvSpPr>
          <p:nvPr/>
        </p:nvSpPr>
        <p:spPr>
          <a:xfrm>
            <a:off x="8420100" y="3505200"/>
            <a:ext cx="85725" cy="171450"/>
          </a:xfrm>
          <a:prstGeom prst="rect">
            <a:avLst/>
          </a:prstGeom>
          <a:solidFill>
            <a:srgbClr val="4968D8"/>
          </a:solidFill>
          <a:ln w="0">
            <a:solidFill>
              <a:srgbClr val="4968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E627E2D-186C-47E3-A246-AD1E4FF4495A}"/>
              </a:ext>
            </a:extLst>
          </p:cNvPr>
          <p:cNvSpPr>
            <a:spLocks noGrp="1"/>
          </p:cNvSpPr>
          <p:nvPr/>
        </p:nvSpPr>
        <p:spPr>
          <a:xfrm>
            <a:off x="8572500" y="3505200"/>
            <a:ext cx="85725" cy="171450"/>
          </a:xfrm>
          <a:prstGeom prst="rect">
            <a:avLst/>
          </a:prstGeom>
          <a:solidFill>
            <a:srgbClr val="4968D8"/>
          </a:solidFill>
          <a:ln w="0">
            <a:solidFill>
              <a:srgbClr val="4968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D4354E2-3A8E-452B-9A40-162089FB2083}"/>
              </a:ext>
            </a:extLst>
          </p:cNvPr>
          <p:cNvSpPr>
            <a:spLocks noGrp="1"/>
          </p:cNvSpPr>
          <p:nvPr/>
        </p:nvSpPr>
        <p:spPr>
          <a:xfrm>
            <a:off x="8724900" y="3505200"/>
            <a:ext cx="85725" cy="171450"/>
          </a:xfrm>
          <a:prstGeom prst="rect">
            <a:avLst/>
          </a:prstGeom>
          <a:solidFill>
            <a:srgbClr val="4968D8"/>
          </a:solidFill>
          <a:ln w="0">
            <a:solidFill>
              <a:srgbClr val="4968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A52CBD0-F4D7-422E-8041-59B33AF06E7C}"/>
              </a:ext>
            </a:extLst>
          </p:cNvPr>
          <p:cNvSpPr>
            <a:spLocks noGrp="1"/>
          </p:cNvSpPr>
          <p:nvPr/>
        </p:nvSpPr>
        <p:spPr>
          <a:xfrm>
            <a:off x="8877300" y="3505200"/>
            <a:ext cx="85725" cy="171450"/>
          </a:xfrm>
          <a:prstGeom prst="rect">
            <a:avLst/>
          </a:prstGeom>
          <a:solidFill>
            <a:srgbClr val="4968D8"/>
          </a:solidFill>
          <a:ln w="0">
            <a:solidFill>
              <a:srgbClr val="4968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572C82D-CA27-4D45-A0A4-624FF00072A6}"/>
              </a:ext>
            </a:extLst>
          </p:cNvPr>
          <p:cNvSpPr>
            <a:spLocks noGrp="1"/>
          </p:cNvSpPr>
          <p:nvPr/>
        </p:nvSpPr>
        <p:spPr>
          <a:xfrm>
            <a:off x="9029700" y="3505200"/>
            <a:ext cx="85725" cy="171450"/>
          </a:xfrm>
          <a:prstGeom prst="rect">
            <a:avLst/>
          </a:prstGeom>
          <a:solidFill>
            <a:srgbClr val="4968D8"/>
          </a:solidFill>
          <a:ln w="0">
            <a:solidFill>
              <a:srgbClr val="4968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87A54D4-1615-43EB-BDCA-BD6DA2707F1F}"/>
              </a:ext>
            </a:extLst>
          </p:cNvPr>
          <p:cNvSpPr>
            <a:spLocks noGrp="1"/>
          </p:cNvSpPr>
          <p:nvPr/>
        </p:nvSpPr>
        <p:spPr>
          <a:xfrm>
            <a:off x="9182100" y="3505200"/>
            <a:ext cx="85725" cy="171450"/>
          </a:xfrm>
          <a:prstGeom prst="rect">
            <a:avLst/>
          </a:prstGeom>
          <a:solidFill>
            <a:srgbClr val="4968D8"/>
          </a:solidFill>
          <a:ln w="0">
            <a:solidFill>
              <a:srgbClr val="4968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C11C48A-F3E2-4754-BE46-76E920372B77}"/>
              </a:ext>
            </a:extLst>
          </p:cNvPr>
          <p:cNvSpPr>
            <a:spLocks noGrp="1"/>
          </p:cNvSpPr>
          <p:nvPr/>
        </p:nvSpPr>
        <p:spPr>
          <a:xfrm>
            <a:off x="9334500" y="3505200"/>
            <a:ext cx="85725" cy="171450"/>
          </a:xfrm>
          <a:prstGeom prst="rect">
            <a:avLst/>
          </a:prstGeom>
          <a:solidFill>
            <a:srgbClr val="4968D8"/>
          </a:solidFill>
          <a:ln w="0">
            <a:solidFill>
              <a:srgbClr val="4968D8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9" name="圓角矩形 28">
            <a:extLst>
              <a:ext uri="{FF2B5EF4-FFF2-40B4-BE49-F238E27FC236}">
                <a16:creationId xmlns:a16="http://schemas.microsoft.com/office/drawing/2014/main" id="{A24C54B9-AA50-45CB-B95E-4B02CC2D2520}"/>
              </a:ext>
            </a:extLst>
          </p:cNvPr>
          <p:cNvSpPr>
            <a:spLocks noGrp="1"/>
          </p:cNvSpPr>
          <p:nvPr/>
        </p:nvSpPr>
        <p:spPr>
          <a:xfrm>
            <a:off x="819150" y="4476750"/>
            <a:ext cx="9906000" cy="87630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33A0F64-EDC1-4159-8835-BAEB290C3D5F}"/>
              </a:ext>
            </a:extLst>
          </p:cNvPr>
          <p:cNvSpPr>
            <a:spLocks noGrp="1"/>
          </p:cNvSpPr>
          <p:nvPr/>
        </p:nvSpPr>
        <p:spPr>
          <a:xfrm>
            <a:off x="819150" y="4476750"/>
            <a:ext cx="114300" cy="876300"/>
          </a:xfrm>
          <a:prstGeom prst="rect">
            <a:avLst/>
          </a:prstGeom>
          <a:solidFill>
            <a:srgbClr val="D9A441"/>
          </a:solidFill>
          <a:ln w="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0C17B10-EA22-4A7D-B7E2-F20015CAF70C}"/>
              </a:ext>
            </a:extLst>
          </p:cNvPr>
          <p:cNvSpPr>
            <a:spLocks noGrp="1"/>
          </p:cNvSpPr>
          <p:nvPr/>
        </p:nvSpPr>
        <p:spPr>
          <a:xfrm>
            <a:off x="1162050" y="4648200"/>
            <a:ext cx="18097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950" b="1">
                <a:solidFill>
                  <a:srgbClr val="D9A441"/>
                </a:solidFill>
                <a:latin typeface="Menlo"/>
                <a:ea typeface="Menlo"/>
                <a:cs typeface="Menlo"/>
              </a:defRPr>
            </a:pPr>
            <a:r>
              <a:rPr sz="1950" b="1">
                <a:solidFill>
                  <a:srgbClr val="D9A441"/>
                </a:solidFill>
                <a:latin typeface="Menlo"/>
                <a:ea typeface="Menlo"/>
                <a:cs typeface="Menlo"/>
              </a:rPr>
              <a:t>sound_task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5DC3D2C-DEDD-4DE0-ADC4-E4059A84B384}"/>
              </a:ext>
            </a:extLst>
          </p:cNvPr>
          <p:cNvSpPr>
            <a:spLocks noGrp="1"/>
          </p:cNvSpPr>
          <p:nvPr/>
        </p:nvSpPr>
        <p:spPr>
          <a:xfrm>
            <a:off x="3276600" y="4629150"/>
            <a:ext cx="4953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先播事件音效</a:t>
            </a:r>
          </a:p>
          <a:p>
            <a:pPr algn="l">
              <a:defRPr sz="15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沒有事件時依 bgm_phase 播背景音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113E2C2-9CAC-4E41-88AB-15194E09FDE5}"/>
              </a:ext>
            </a:extLst>
          </p:cNvPr>
          <p:cNvSpPr>
            <a:spLocks noGrp="1"/>
          </p:cNvSpPr>
          <p:nvPr/>
        </p:nvSpPr>
        <p:spPr>
          <a:xfrm>
            <a:off x="8420100" y="4838700"/>
            <a:ext cx="85725" cy="171450"/>
          </a:xfrm>
          <a:prstGeom prst="rect">
            <a:avLst/>
          </a:prstGeom>
          <a:solidFill>
            <a:srgbClr val="D9A441"/>
          </a:solidFill>
          <a:ln w="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9B8F360-199D-4BBB-85D0-1727886DB59C}"/>
              </a:ext>
            </a:extLst>
          </p:cNvPr>
          <p:cNvSpPr>
            <a:spLocks noGrp="1"/>
          </p:cNvSpPr>
          <p:nvPr/>
        </p:nvSpPr>
        <p:spPr>
          <a:xfrm>
            <a:off x="8572500" y="4838700"/>
            <a:ext cx="85725" cy="171450"/>
          </a:xfrm>
          <a:prstGeom prst="rect">
            <a:avLst/>
          </a:prstGeom>
          <a:solidFill>
            <a:srgbClr val="D9A441"/>
          </a:solidFill>
          <a:ln w="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F9F0631-91B4-417C-9810-9BC6C17B42B0}"/>
              </a:ext>
            </a:extLst>
          </p:cNvPr>
          <p:cNvSpPr>
            <a:spLocks noGrp="1"/>
          </p:cNvSpPr>
          <p:nvPr/>
        </p:nvSpPr>
        <p:spPr>
          <a:xfrm>
            <a:off x="8724900" y="4838700"/>
            <a:ext cx="85725" cy="171450"/>
          </a:xfrm>
          <a:prstGeom prst="rect">
            <a:avLst/>
          </a:prstGeom>
          <a:solidFill>
            <a:srgbClr val="D9A441"/>
          </a:solidFill>
          <a:ln w="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2258D6D-329B-49B8-BC74-03E625E2F133}"/>
              </a:ext>
            </a:extLst>
          </p:cNvPr>
          <p:cNvSpPr>
            <a:spLocks noGrp="1"/>
          </p:cNvSpPr>
          <p:nvPr/>
        </p:nvSpPr>
        <p:spPr>
          <a:xfrm>
            <a:off x="8877300" y="4838700"/>
            <a:ext cx="85725" cy="171450"/>
          </a:xfrm>
          <a:prstGeom prst="rect">
            <a:avLst/>
          </a:prstGeom>
          <a:solidFill>
            <a:srgbClr val="D9A441"/>
          </a:solidFill>
          <a:ln w="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7B3B276-B73B-4131-8E01-DB98AC09954F}"/>
              </a:ext>
            </a:extLst>
          </p:cNvPr>
          <p:cNvSpPr>
            <a:spLocks noGrp="1"/>
          </p:cNvSpPr>
          <p:nvPr/>
        </p:nvSpPr>
        <p:spPr>
          <a:xfrm>
            <a:off x="9029700" y="4838700"/>
            <a:ext cx="85725" cy="171450"/>
          </a:xfrm>
          <a:prstGeom prst="rect">
            <a:avLst/>
          </a:prstGeom>
          <a:solidFill>
            <a:srgbClr val="D9A441"/>
          </a:solidFill>
          <a:ln w="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FFAE3B6-C3D2-42E0-AD9D-97625A2CD761}"/>
              </a:ext>
            </a:extLst>
          </p:cNvPr>
          <p:cNvSpPr>
            <a:spLocks noGrp="1"/>
          </p:cNvSpPr>
          <p:nvPr/>
        </p:nvSpPr>
        <p:spPr>
          <a:xfrm>
            <a:off x="9182100" y="4838700"/>
            <a:ext cx="85725" cy="171450"/>
          </a:xfrm>
          <a:prstGeom prst="rect">
            <a:avLst/>
          </a:prstGeom>
          <a:solidFill>
            <a:srgbClr val="D9A441"/>
          </a:solidFill>
          <a:ln w="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F3DC851-142A-4906-B5EF-E37026BECF77}"/>
              </a:ext>
            </a:extLst>
          </p:cNvPr>
          <p:cNvSpPr>
            <a:spLocks noGrp="1"/>
          </p:cNvSpPr>
          <p:nvPr/>
        </p:nvSpPr>
        <p:spPr>
          <a:xfrm>
            <a:off x="9334500" y="4838700"/>
            <a:ext cx="85725" cy="171450"/>
          </a:xfrm>
          <a:prstGeom prst="rect">
            <a:avLst/>
          </a:prstGeom>
          <a:solidFill>
            <a:srgbClr val="D9A441"/>
          </a:solidFill>
          <a:ln w="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A734D9C-2923-4A17-AD90-FE26D4C32897}"/>
              </a:ext>
            </a:extLst>
          </p:cNvPr>
          <p:cNvSpPr>
            <a:spLocks noGrp="1"/>
          </p:cNvSpPr>
          <p:nvPr/>
        </p:nvSpPr>
        <p:spPr>
          <a:xfrm>
            <a:off x="857250" y="5829300"/>
            <a:ext cx="9144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650" b="1">
                <a:solidFill>
                  <a:srgbClr val="33415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34155"/>
                </a:solidFill>
                <a:latin typeface="PingFang TC"/>
                <a:ea typeface="PingFang TC"/>
                <a:cs typeface="PingFang TC"/>
              </a:rPr>
              <a:t>設計重點：蜂鳴器播放旋律時，遊戲仍可讀輸入、更新倒數並重畫畫面。</a:t>
            </a:r>
          </a:p>
        </p:txBody>
      </p:sp>
    </p:spTree>
    <p:extLst>
      <p:ext uri="{BB962C8B-B14F-4D97-AF65-F5344CB8AC3E}">
        <p14:creationId xmlns:p14="http://schemas.microsoft.com/office/powerpoint/2010/main" val="850156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A626D713-6DF9-42B3-927B-EE15F841F4D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0839638-6044-49BC-80D6-20D06A4F4D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87C5488-41C0-432F-BCE2-DEE1A3B2683D}"/>
              </a:ext>
            </a:extLst>
          </p:cNvPr>
          <p:cNvSpPr>
            <a:spLocks noGrp="1"/>
          </p:cNvSpPr>
          <p:nvPr/>
        </p:nvSpPr>
        <p:spPr>
          <a:xfrm>
            <a:off x="11315700" y="6419850"/>
            <a:ext cx="419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07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C22600B-690E-4E78-AC97-DBEC63AD506D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MAZE QUEST Final Project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0015BF4-02A8-47BF-981D-03BD78979413}"/>
              </a:ext>
            </a:extLst>
          </p:cNvPr>
          <p:cNvSpPr>
            <a:spLocks noGrp="1"/>
          </p:cNvSpPr>
          <p:nvPr/>
        </p:nvSpPr>
        <p:spPr>
          <a:xfrm>
            <a:off x="666750" y="4191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E7C7B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0E7C7B"/>
                </a:solidFill>
                <a:latin typeface="PingFang TC"/>
                <a:ea typeface="PingFang TC"/>
                <a:cs typeface="PingFang TC"/>
              </a:rPr>
              <a:t>CORE LOGIC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DC46911-F410-4068-AB6E-3AFFBF46F79D}"/>
              </a:ext>
            </a:extLst>
          </p:cNvPr>
          <p:cNvSpPr>
            <a:spLocks noGrp="1"/>
          </p:cNvSpPr>
          <p:nvPr/>
        </p:nvSpPr>
        <p:spPr>
          <a:xfrm>
            <a:off x="666750" y="723900"/>
            <a:ext cx="9334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核心函數把時間、輸入、移動與結算拆成清楚的流程。</a:t>
            </a: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3DBB6A8D-909F-4855-9BD0-8DBE794AA950}"/>
              </a:ext>
            </a:extLst>
          </p:cNvPr>
          <p:cNvSpPr>
            <a:spLocks noGrp="1"/>
          </p:cNvSpPr>
          <p:nvPr/>
        </p:nvSpPr>
        <p:spPr>
          <a:xfrm>
            <a:off x="666750" y="1924050"/>
            <a:ext cx="1695450" cy="552450"/>
          </a:xfrm>
          <a:prstGeom prst="roundRect">
            <a:avLst>
              <a:gd name="adj" fmla="val 13793"/>
            </a:avLst>
          </a:prstGeom>
          <a:solidFill>
            <a:srgbClr val="DDEFE8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BCE91A8-81F7-4BA3-8158-AD1ADF9F1A05}"/>
              </a:ext>
            </a:extLst>
          </p:cNvPr>
          <p:cNvSpPr>
            <a:spLocks noGrp="1"/>
          </p:cNvSpPr>
          <p:nvPr/>
        </p:nvSpPr>
        <p:spPr>
          <a:xfrm>
            <a:off x="742950" y="2000250"/>
            <a:ext cx="1543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127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update(events)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23F4162-5208-4569-A803-0132A44B4E68}"/>
              </a:ext>
            </a:extLst>
          </p:cNvPr>
          <p:cNvSpPr>
            <a:spLocks noGrp="1"/>
          </p:cNvSpPr>
          <p:nvPr/>
        </p:nvSpPr>
        <p:spPr>
          <a:xfrm>
            <a:off x="723900" y="2667000"/>
            <a:ext cx="15811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275" b="0">
                <a:solidFill>
                  <a:srgbClr val="33415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334155"/>
                </a:solidFill>
                <a:latin typeface="PingFang TC"/>
                <a:ea typeface="PingFang TC"/>
                <a:cs typeface="PingFang TC"/>
              </a:rPr>
              <a:t>更新倒數</a:t>
            </a:r>
          </a:p>
          <a:p>
            <a:pPr algn="ctr">
              <a:defRPr sz="1275" b="0">
                <a:solidFill>
                  <a:srgbClr val="33415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334155"/>
                </a:solidFill>
                <a:latin typeface="PingFang TC"/>
                <a:ea typeface="PingFang TC"/>
                <a:cs typeface="PingFang TC"/>
              </a:rPr>
              <a:t>時間到就 finish</a:t>
            </a:r>
          </a:p>
        </p:txBody>
      </p:sp>
      <p:sp>
        <p:nvSpPr>
          <p:cNvPr id="10" name="向右箭號 9">
            <a:extLst>
              <a:ext uri="{FF2B5EF4-FFF2-40B4-BE49-F238E27FC236}">
                <a16:creationId xmlns:a16="http://schemas.microsoft.com/office/drawing/2014/main" id="{DEF1C1A1-657F-4045-B571-460195CF488A}"/>
              </a:ext>
            </a:extLst>
          </p:cNvPr>
          <p:cNvSpPr>
            <a:spLocks noGrp="1"/>
          </p:cNvSpPr>
          <p:nvPr/>
        </p:nvSpPr>
        <p:spPr>
          <a:xfrm>
            <a:off x="2419350" y="2095500"/>
            <a:ext cx="400050" cy="209550"/>
          </a:xfrm>
          <a:prstGeom prst="rightArrow">
            <a:avLst/>
          </a:prstGeom>
          <a:solidFill>
            <a:srgbClr val="0E7C7B"/>
          </a:solidFill>
          <a:ln w="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圓角矩形 10">
            <a:extLst>
              <a:ext uri="{FF2B5EF4-FFF2-40B4-BE49-F238E27FC236}">
                <a16:creationId xmlns:a16="http://schemas.microsoft.com/office/drawing/2014/main" id="{B0383D77-F3EE-487B-B085-F948E4B2EC77}"/>
              </a:ext>
            </a:extLst>
          </p:cNvPr>
          <p:cNvSpPr>
            <a:spLocks noGrp="1"/>
          </p:cNvSpPr>
          <p:nvPr/>
        </p:nvSpPr>
        <p:spPr>
          <a:xfrm>
            <a:off x="2876550" y="1924050"/>
            <a:ext cx="1695450" cy="552450"/>
          </a:xfrm>
          <a:prstGeom prst="roundRect">
            <a:avLst>
              <a:gd name="adj" fmla="val 13793"/>
            </a:avLst>
          </a:prstGeom>
          <a:solidFill>
            <a:srgbClr val="DDE5FF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B35A365-CCE9-46D3-B411-FF61D22B9DE7}"/>
              </a:ext>
            </a:extLst>
          </p:cNvPr>
          <p:cNvSpPr>
            <a:spLocks noGrp="1"/>
          </p:cNvSpPr>
          <p:nvPr/>
        </p:nvSpPr>
        <p:spPr>
          <a:xfrm>
            <a:off x="2952750" y="2000250"/>
            <a:ext cx="1543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127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handle_input()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89997AF-0FE7-4C27-8C7E-F324E664962D}"/>
              </a:ext>
            </a:extLst>
          </p:cNvPr>
          <p:cNvSpPr>
            <a:spLocks noGrp="1"/>
          </p:cNvSpPr>
          <p:nvPr/>
        </p:nvSpPr>
        <p:spPr>
          <a:xfrm>
            <a:off x="2933700" y="2667000"/>
            <a:ext cx="15811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275" b="0">
                <a:solidFill>
                  <a:srgbClr val="33415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334155"/>
                </a:solidFill>
                <a:latin typeface="PingFang TC"/>
                <a:ea typeface="PingFang TC"/>
                <a:cs typeface="PingFang TC"/>
              </a:rPr>
              <a:t>依目前 state</a:t>
            </a:r>
          </a:p>
          <a:p>
            <a:pPr algn="ctr">
              <a:defRPr sz="1275" b="0">
                <a:solidFill>
                  <a:srgbClr val="33415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334155"/>
                </a:solidFill>
                <a:latin typeface="PingFang TC"/>
                <a:ea typeface="PingFang TC"/>
                <a:cs typeface="PingFang TC"/>
              </a:rPr>
              <a:t>分派到對應函數</a:t>
            </a:r>
          </a:p>
        </p:txBody>
      </p:sp>
      <p:sp>
        <p:nvSpPr>
          <p:cNvPr id="14" name="向右箭號 13">
            <a:extLst>
              <a:ext uri="{FF2B5EF4-FFF2-40B4-BE49-F238E27FC236}">
                <a16:creationId xmlns:a16="http://schemas.microsoft.com/office/drawing/2014/main" id="{FED8B7E0-4659-49F3-952F-F7210947B184}"/>
              </a:ext>
            </a:extLst>
          </p:cNvPr>
          <p:cNvSpPr>
            <a:spLocks noGrp="1"/>
          </p:cNvSpPr>
          <p:nvPr/>
        </p:nvSpPr>
        <p:spPr>
          <a:xfrm>
            <a:off x="4629150" y="2095500"/>
            <a:ext cx="400050" cy="209550"/>
          </a:xfrm>
          <a:prstGeom prst="rightArrow">
            <a:avLst/>
          </a:prstGeom>
          <a:solidFill>
            <a:srgbClr val="0E7C7B"/>
          </a:solidFill>
          <a:ln w="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圓角矩形 14">
            <a:extLst>
              <a:ext uri="{FF2B5EF4-FFF2-40B4-BE49-F238E27FC236}">
                <a16:creationId xmlns:a16="http://schemas.microsoft.com/office/drawing/2014/main" id="{43E7FD3F-1775-4614-8F40-B919E061AC5D}"/>
              </a:ext>
            </a:extLst>
          </p:cNvPr>
          <p:cNvSpPr>
            <a:spLocks noGrp="1"/>
          </p:cNvSpPr>
          <p:nvPr/>
        </p:nvSpPr>
        <p:spPr>
          <a:xfrm>
            <a:off x="5086350" y="1924050"/>
            <a:ext cx="1695450" cy="552450"/>
          </a:xfrm>
          <a:prstGeom prst="roundRect">
            <a:avLst>
              <a:gd name="adj" fmla="val 13793"/>
            </a:avLst>
          </a:prstGeom>
          <a:solidFill>
            <a:srgbClr val="DDE5FF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F47EC86-C69E-4CBA-926E-6F719612BF7F}"/>
              </a:ext>
            </a:extLst>
          </p:cNvPr>
          <p:cNvSpPr>
            <a:spLocks noGrp="1"/>
          </p:cNvSpPr>
          <p:nvPr/>
        </p:nvSpPr>
        <p:spPr>
          <a:xfrm>
            <a:off x="5162550" y="2000250"/>
            <a:ext cx="1543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127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_handle_level</a:t>
            </a:r>
          </a:p>
          <a:p>
            <a:pPr algn="ctr">
              <a:defRPr sz="127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_input()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DB5FF29-AFC4-4035-A93A-6CCF8B66211C}"/>
              </a:ext>
            </a:extLst>
          </p:cNvPr>
          <p:cNvSpPr>
            <a:spLocks noGrp="1"/>
          </p:cNvSpPr>
          <p:nvPr/>
        </p:nvSpPr>
        <p:spPr>
          <a:xfrm>
            <a:off x="5143500" y="2667000"/>
            <a:ext cx="15811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275" b="0">
                <a:solidFill>
                  <a:srgbClr val="33415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334155"/>
                </a:solidFill>
                <a:latin typeface="PingFang TC"/>
                <a:ea typeface="PingFang TC"/>
                <a:cs typeface="PingFang TC"/>
              </a:rPr>
              <a:t>B 暫停</a:t>
            </a:r>
          </a:p>
          <a:p>
            <a:pPr algn="ctr">
              <a:defRPr sz="1275" b="0">
                <a:solidFill>
                  <a:srgbClr val="33415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334155"/>
                </a:solidFill>
                <a:latin typeface="PingFang TC"/>
                <a:ea typeface="PingFang TC"/>
                <a:cs typeface="PingFang TC"/>
              </a:rPr>
              <a:t>方向轉成位移</a:t>
            </a:r>
          </a:p>
        </p:txBody>
      </p:sp>
      <p:sp>
        <p:nvSpPr>
          <p:cNvPr id="18" name="向右箭號 17">
            <a:extLst>
              <a:ext uri="{FF2B5EF4-FFF2-40B4-BE49-F238E27FC236}">
                <a16:creationId xmlns:a16="http://schemas.microsoft.com/office/drawing/2014/main" id="{351AEF10-B54E-4203-B91F-230B8AF29DB3}"/>
              </a:ext>
            </a:extLst>
          </p:cNvPr>
          <p:cNvSpPr>
            <a:spLocks noGrp="1"/>
          </p:cNvSpPr>
          <p:nvPr/>
        </p:nvSpPr>
        <p:spPr>
          <a:xfrm>
            <a:off x="6838950" y="2095500"/>
            <a:ext cx="400050" cy="209550"/>
          </a:xfrm>
          <a:prstGeom prst="rightArrow">
            <a:avLst/>
          </a:prstGeom>
          <a:solidFill>
            <a:srgbClr val="0E7C7B"/>
          </a:solidFill>
          <a:ln w="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圓角矩形 18">
            <a:extLst>
              <a:ext uri="{FF2B5EF4-FFF2-40B4-BE49-F238E27FC236}">
                <a16:creationId xmlns:a16="http://schemas.microsoft.com/office/drawing/2014/main" id="{D8A2FE74-0157-4F5F-AD3D-00F431DE49BE}"/>
              </a:ext>
            </a:extLst>
          </p:cNvPr>
          <p:cNvSpPr>
            <a:spLocks noGrp="1"/>
          </p:cNvSpPr>
          <p:nvPr/>
        </p:nvSpPr>
        <p:spPr>
          <a:xfrm>
            <a:off x="7296150" y="1924050"/>
            <a:ext cx="1695450" cy="552450"/>
          </a:xfrm>
          <a:prstGeom prst="roundRect">
            <a:avLst>
              <a:gd name="adj" fmla="val 13793"/>
            </a:avLst>
          </a:prstGeom>
          <a:solidFill>
            <a:srgbClr val="DDE5FF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C79F6F1-71D7-458E-9D40-03C32E3A63CE}"/>
              </a:ext>
            </a:extLst>
          </p:cNvPr>
          <p:cNvSpPr>
            <a:spLocks noGrp="1"/>
          </p:cNvSpPr>
          <p:nvPr/>
        </p:nvSpPr>
        <p:spPr>
          <a:xfrm>
            <a:off x="7372350" y="2000250"/>
            <a:ext cx="1543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127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_move_player()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6DA7F11-3BB5-4A0E-A26D-B0CA279D1AFC}"/>
              </a:ext>
            </a:extLst>
          </p:cNvPr>
          <p:cNvSpPr>
            <a:spLocks noGrp="1"/>
          </p:cNvSpPr>
          <p:nvPr/>
        </p:nvSpPr>
        <p:spPr>
          <a:xfrm>
            <a:off x="7353300" y="2667000"/>
            <a:ext cx="15811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275" b="0">
                <a:solidFill>
                  <a:srgbClr val="33415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334155"/>
                </a:solidFill>
                <a:latin typeface="PingFang TC"/>
                <a:ea typeface="PingFang TC"/>
                <a:cs typeface="PingFang TC"/>
              </a:rPr>
              <a:t>先檢查牆壁</a:t>
            </a:r>
          </a:p>
          <a:p>
            <a:pPr algn="ctr">
              <a:defRPr sz="1275" b="0">
                <a:solidFill>
                  <a:srgbClr val="33415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334155"/>
                </a:solidFill>
                <a:latin typeface="PingFang TC"/>
                <a:ea typeface="PingFang TC"/>
                <a:cs typeface="PingFang TC"/>
              </a:rPr>
              <a:t>再更新玩家座標</a:t>
            </a:r>
          </a:p>
        </p:txBody>
      </p:sp>
      <p:sp>
        <p:nvSpPr>
          <p:cNvPr id="22" name="向右箭號 21">
            <a:extLst>
              <a:ext uri="{FF2B5EF4-FFF2-40B4-BE49-F238E27FC236}">
                <a16:creationId xmlns:a16="http://schemas.microsoft.com/office/drawing/2014/main" id="{6098BAD4-D317-4D62-87D4-F715DD28F46A}"/>
              </a:ext>
            </a:extLst>
          </p:cNvPr>
          <p:cNvSpPr>
            <a:spLocks noGrp="1"/>
          </p:cNvSpPr>
          <p:nvPr/>
        </p:nvSpPr>
        <p:spPr>
          <a:xfrm>
            <a:off x="9048750" y="2095500"/>
            <a:ext cx="400050" cy="209550"/>
          </a:xfrm>
          <a:prstGeom prst="rightArrow">
            <a:avLst/>
          </a:prstGeom>
          <a:solidFill>
            <a:srgbClr val="0E7C7B"/>
          </a:solidFill>
          <a:ln w="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3" name="圓角矩形 22">
            <a:extLst>
              <a:ext uri="{FF2B5EF4-FFF2-40B4-BE49-F238E27FC236}">
                <a16:creationId xmlns:a16="http://schemas.microsoft.com/office/drawing/2014/main" id="{C64A5C70-F0FD-449E-8431-473AA861D5F5}"/>
              </a:ext>
            </a:extLst>
          </p:cNvPr>
          <p:cNvSpPr>
            <a:spLocks noGrp="1"/>
          </p:cNvSpPr>
          <p:nvPr/>
        </p:nvSpPr>
        <p:spPr>
          <a:xfrm>
            <a:off x="9505950" y="1924050"/>
            <a:ext cx="1695450" cy="552450"/>
          </a:xfrm>
          <a:prstGeom prst="roundRect">
            <a:avLst>
              <a:gd name="adj" fmla="val 13793"/>
            </a:avLst>
          </a:prstGeom>
          <a:solidFill>
            <a:srgbClr val="DDE5FF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667E064-2D94-4525-BDFB-94224F33E5D0}"/>
              </a:ext>
            </a:extLst>
          </p:cNvPr>
          <p:cNvSpPr>
            <a:spLocks noGrp="1"/>
          </p:cNvSpPr>
          <p:nvPr/>
        </p:nvSpPr>
        <p:spPr>
          <a:xfrm>
            <a:off x="9582150" y="2000250"/>
            <a:ext cx="1543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57150" tIns="38100" rIns="57150" bIns="38100" anchor="ctr"/>
          <a:lstStyle/>
          <a:p>
            <a:pPr algn="ctr">
              <a:defRPr sz="1275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275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_complete_level()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FDC644E-6617-49DE-8E5B-74FC8D1400AA}"/>
              </a:ext>
            </a:extLst>
          </p:cNvPr>
          <p:cNvSpPr>
            <a:spLocks noGrp="1"/>
          </p:cNvSpPr>
          <p:nvPr/>
        </p:nvSpPr>
        <p:spPr>
          <a:xfrm>
            <a:off x="9563100" y="2667000"/>
            <a:ext cx="15811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275" b="0">
                <a:solidFill>
                  <a:srgbClr val="33415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334155"/>
                </a:solidFill>
                <a:latin typeface="PingFang TC"/>
                <a:ea typeface="PingFang TC"/>
                <a:cs typeface="PingFang TC"/>
              </a:rPr>
              <a:t>加分</a:t>
            </a:r>
          </a:p>
          <a:p>
            <a:pPr algn="ctr">
              <a:defRPr sz="1275" b="0">
                <a:solidFill>
                  <a:srgbClr val="334155"/>
                </a:solidFill>
                <a:latin typeface="PingFang TC"/>
                <a:ea typeface="PingFang TC"/>
                <a:cs typeface="PingFang TC"/>
              </a:defRPr>
            </a:pPr>
            <a:r>
              <a:rPr sz="1275" b="0">
                <a:solidFill>
                  <a:srgbClr val="334155"/>
                </a:solidFill>
                <a:latin typeface="PingFang TC"/>
                <a:ea typeface="PingFang TC"/>
                <a:cs typeface="PingFang TC"/>
              </a:rPr>
              <a:t>切下一關或結算</a:t>
            </a:r>
          </a:p>
        </p:txBody>
      </p:sp>
      <p:sp>
        <p:nvSpPr>
          <p:cNvPr id="26" name="圓角矩形 25">
            <a:extLst>
              <a:ext uri="{FF2B5EF4-FFF2-40B4-BE49-F238E27FC236}">
                <a16:creationId xmlns:a16="http://schemas.microsoft.com/office/drawing/2014/main" id="{587BA6C0-4744-4788-A03A-DB5535D3B5BF}"/>
              </a:ext>
            </a:extLst>
          </p:cNvPr>
          <p:cNvSpPr>
            <a:spLocks noGrp="1"/>
          </p:cNvSpPr>
          <p:nvPr/>
        </p:nvSpPr>
        <p:spPr>
          <a:xfrm>
            <a:off x="1104900" y="4171950"/>
            <a:ext cx="419100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A3A4574-D495-42AB-8DCD-D2E93373C2C6}"/>
              </a:ext>
            </a:extLst>
          </p:cNvPr>
          <p:cNvSpPr>
            <a:spLocks noGrp="1"/>
          </p:cNvSpPr>
          <p:nvPr/>
        </p:nvSpPr>
        <p:spPr>
          <a:xfrm>
            <a:off x="1371600" y="4362450"/>
            <a:ext cx="1714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725" b="1">
                <a:solidFill>
                  <a:srgbClr val="0E7C7B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0E7C7B"/>
                </a:solidFill>
                <a:latin typeface="PingFang TC"/>
                <a:ea typeface="PingFang TC"/>
                <a:cs typeface="PingFang TC"/>
              </a:rPr>
              <a:t>snapshot 合約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6E454FB-E499-4554-B111-C2C29BD5BD6A}"/>
              </a:ext>
            </a:extLst>
          </p:cNvPr>
          <p:cNvSpPr>
            <a:spLocks noGrp="1"/>
          </p:cNvSpPr>
          <p:nvPr/>
        </p:nvSpPr>
        <p:spPr>
          <a:xfrm>
            <a:off x="1371600" y="4724400"/>
            <a:ext cx="352425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42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DisplayUnit 和 SoundManager 只讀取 snapshot，不直接修改 GameEngine 內部狀態。</a:t>
            </a:r>
          </a:p>
        </p:txBody>
      </p:sp>
      <p:sp>
        <p:nvSpPr>
          <p:cNvPr id="29" name="圓角矩形 28">
            <a:extLst>
              <a:ext uri="{FF2B5EF4-FFF2-40B4-BE49-F238E27FC236}">
                <a16:creationId xmlns:a16="http://schemas.microsoft.com/office/drawing/2014/main" id="{5BDB9A0E-B015-4FA7-BA70-E8B53DDE70C3}"/>
              </a:ext>
            </a:extLst>
          </p:cNvPr>
          <p:cNvSpPr>
            <a:spLocks noGrp="1"/>
          </p:cNvSpPr>
          <p:nvPr/>
        </p:nvSpPr>
        <p:spPr>
          <a:xfrm>
            <a:off x="6191250" y="4171950"/>
            <a:ext cx="4095750" cy="13335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D95F073-2261-476C-BD31-29C5AEDA0730}"/>
              </a:ext>
            </a:extLst>
          </p:cNvPr>
          <p:cNvSpPr>
            <a:spLocks noGrp="1"/>
          </p:cNvSpPr>
          <p:nvPr/>
        </p:nvSpPr>
        <p:spPr>
          <a:xfrm>
            <a:off x="6457950" y="43624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75" b="1">
                <a:solidFill>
                  <a:srgbClr val="D45D4C"/>
                </a:solidFill>
                <a:latin typeface="Menlo"/>
                <a:ea typeface="Menlo"/>
                <a:cs typeface="Menlo"/>
              </a:defRPr>
            </a:pPr>
            <a:r>
              <a:rPr sz="1575" b="1">
                <a:solidFill>
                  <a:srgbClr val="D45D4C"/>
                </a:solidFill>
                <a:latin typeface="Menlo"/>
                <a:ea typeface="Menlo"/>
                <a:cs typeface="Menlo"/>
              </a:rPr>
              <a:t>score-save gate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FB9A8C0-5271-4392-8343-2F9E380F649A}"/>
              </a:ext>
            </a:extLst>
          </p:cNvPr>
          <p:cNvSpPr>
            <a:spLocks noGrp="1"/>
          </p:cNvSpPr>
          <p:nvPr/>
        </p:nvSpPr>
        <p:spPr>
          <a:xfrm>
            <a:off x="6457950" y="4781550"/>
            <a:ext cx="33337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consume_score_to_save() 只交出一次分數，避免結算畫面每幀重複寫 Flash。</a:t>
            </a:r>
          </a:p>
        </p:txBody>
      </p:sp>
    </p:spTree>
    <p:extLst>
      <p:ext uri="{BB962C8B-B14F-4D97-AF65-F5344CB8AC3E}">
        <p14:creationId xmlns:p14="http://schemas.microsoft.com/office/powerpoint/2010/main" val="10979174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0F39C3EF-74CB-4D0F-BC9D-C90C374B7E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9FAB2BD-A7C1-4854-9A9A-0EB3A17B33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0FEA652-AF63-4328-988F-015242EE396B}"/>
              </a:ext>
            </a:extLst>
          </p:cNvPr>
          <p:cNvSpPr>
            <a:spLocks noGrp="1"/>
          </p:cNvSpPr>
          <p:nvPr/>
        </p:nvSpPr>
        <p:spPr>
          <a:xfrm>
            <a:off x="11315700" y="6419850"/>
            <a:ext cx="419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08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9FC7B69-C7B2-4676-8683-2BF15F37AA2B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MAZE QUEST Final Project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FC74924-E19B-44B9-B5E3-A7B23D626442}"/>
              </a:ext>
            </a:extLst>
          </p:cNvPr>
          <p:cNvSpPr>
            <a:spLocks noGrp="1"/>
          </p:cNvSpPr>
          <p:nvPr/>
        </p:nvSpPr>
        <p:spPr>
          <a:xfrm>
            <a:off x="666750" y="4191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E7C7B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0E7C7B"/>
                </a:solidFill>
                <a:latin typeface="PingFang TC"/>
                <a:ea typeface="PingFang TC"/>
                <a:cs typeface="PingFang TC"/>
              </a:rPr>
              <a:t>MAP DATA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7E01750-0A59-4F59-8766-D2266CEE79E6}"/>
              </a:ext>
            </a:extLst>
          </p:cNvPr>
          <p:cNvSpPr>
            <a:spLocks noGrp="1"/>
          </p:cNvSpPr>
          <p:nvPr/>
        </p:nvSpPr>
        <p:spPr>
          <a:xfrm>
            <a:off x="666750" y="723900"/>
            <a:ext cx="9334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迷宮用字串表示，讓關卡資料同時可讀、可畫、可判斷。</a:t>
            </a: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5F55C9AA-4261-44FF-BDBD-69F5D526028B}"/>
              </a:ext>
            </a:extLst>
          </p:cNvPr>
          <p:cNvSpPr>
            <a:spLocks noGrp="1"/>
          </p:cNvSpPr>
          <p:nvPr/>
        </p:nvSpPr>
        <p:spPr>
          <a:xfrm>
            <a:off x="819150" y="1752600"/>
            <a:ext cx="4762500" cy="3143250"/>
          </a:xfrm>
          <a:prstGeom prst="roundRect">
            <a:avLst>
              <a:gd name="adj" fmla="val 2424"/>
            </a:avLst>
          </a:prstGeom>
          <a:solidFill>
            <a:srgbClr val="111827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7291BD4-668C-45B2-AAA3-3B32107315F7}"/>
              </a:ext>
            </a:extLst>
          </p:cNvPr>
          <p:cNvSpPr>
            <a:spLocks noGrp="1"/>
          </p:cNvSpPr>
          <p:nvPr/>
        </p:nvSpPr>
        <p:spPr>
          <a:xfrm>
            <a:off x="1066800" y="1981200"/>
            <a:ext cx="2476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425" b="1">
                <a:solidFill>
                  <a:srgbClr val="D9A441"/>
                </a:solidFill>
                <a:latin typeface="Menlo"/>
                <a:ea typeface="Menlo"/>
                <a:cs typeface="Menlo"/>
              </a:defRPr>
            </a:pPr>
            <a:r>
              <a:rPr sz="1425" b="1">
                <a:solidFill>
                  <a:srgbClr val="D9A441"/>
                </a:solidFill>
                <a:latin typeface="Menlo"/>
                <a:ea typeface="Menlo"/>
                <a:cs typeface="Menlo"/>
              </a:rPr>
              <a:t>LEVEL_MAPS[0]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48E4E94-1D6B-47DE-87E9-982956B1C0C0}"/>
              </a:ext>
            </a:extLst>
          </p:cNvPr>
          <p:cNvSpPr>
            <a:spLocks noGrp="1"/>
          </p:cNvSpPr>
          <p:nvPr/>
        </p:nvSpPr>
        <p:spPr>
          <a:xfrm>
            <a:off x="1066800" y="2381250"/>
            <a:ext cx="4000500" cy="2000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00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###################</a:t>
            </a:r>
          </a:p>
          <a:p>
            <a:pPr algn="l">
              <a:defRPr sz="1500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#S    #     #     #</a:t>
            </a:r>
          </a:p>
          <a:p>
            <a:pPr algn="l">
              <a:defRPr sz="1500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### # # ### # ### #</a:t>
            </a:r>
          </a:p>
          <a:p>
            <a:pPr algn="l">
              <a:defRPr sz="1500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#   #   #   # #   #</a:t>
            </a:r>
          </a:p>
          <a:p>
            <a:pPr algn="l">
              <a:defRPr sz="1500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# ##### # ### # # #</a:t>
            </a:r>
          </a:p>
          <a:p>
            <a:pPr algn="l">
              <a:defRPr sz="1500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#     # #     # #E#</a:t>
            </a:r>
          </a:p>
          <a:p>
            <a:pPr algn="l">
              <a:defRPr sz="1500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# ### # #####   # #</a:t>
            </a:r>
          </a:p>
          <a:p>
            <a:pPr algn="l">
              <a:defRPr sz="1500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###################</a:t>
            </a: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082FA84C-31E8-46DB-A1D7-60DB085C956A}"/>
              </a:ext>
            </a:extLst>
          </p:cNvPr>
          <p:cNvSpPr>
            <a:spLocks noGrp="1"/>
          </p:cNvSpPr>
          <p:nvPr/>
        </p:nvSpPr>
        <p:spPr>
          <a:xfrm>
            <a:off x="6419850" y="1752600"/>
            <a:ext cx="409575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9114A4F-96A8-4575-A422-ED942FDE7D29}"/>
              </a:ext>
            </a:extLst>
          </p:cNvPr>
          <p:cNvSpPr>
            <a:spLocks noGrp="1"/>
          </p:cNvSpPr>
          <p:nvPr/>
        </p:nvSpPr>
        <p:spPr>
          <a:xfrm>
            <a:off x="6724650" y="2000250"/>
            <a:ext cx="2857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875" b="1">
                <a:solidFill>
                  <a:srgbClr val="0E7C7B"/>
                </a:solidFill>
                <a:latin typeface="Menlo"/>
                <a:ea typeface="Menlo"/>
                <a:cs typeface="Menlo"/>
              </a:defRPr>
            </a:pPr>
            <a:r>
              <a:rPr sz="1875" b="1">
                <a:solidFill>
                  <a:srgbClr val="0E7C7B"/>
                </a:solidFill>
                <a:latin typeface="Menlo"/>
                <a:ea typeface="Menlo"/>
                <a:cs typeface="Menlo"/>
              </a:rPr>
              <a:t>_is_walkable(x, y)</a:t>
            </a: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2D2B2A6D-C55E-4CFD-8429-07BFA8B1414D}"/>
              </a:ext>
            </a:extLst>
          </p:cNvPr>
          <p:cNvSpPr>
            <a:spLocks noGrp="1"/>
          </p:cNvSpPr>
          <p:nvPr/>
        </p:nvSpPr>
        <p:spPr>
          <a:xfrm>
            <a:off x="6800850" y="2571750"/>
            <a:ext cx="133350" cy="133350"/>
          </a:xfrm>
          <a:prstGeom prst="ellipse">
            <a:avLst/>
          </a:prstGeom>
          <a:solidFill>
            <a:srgbClr val="D45D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F96496A-715A-4FB3-BEE3-ACB3F807F95A}"/>
              </a:ext>
            </a:extLst>
          </p:cNvPr>
          <p:cNvSpPr>
            <a:spLocks noGrp="1"/>
          </p:cNvSpPr>
          <p:nvPr/>
        </p:nvSpPr>
        <p:spPr>
          <a:xfrm>
            <a:off x="7067550" y="2476500"/>
            <a:ext cx="2952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超出地圖範圍 → 不能走</a:t>
            </a: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067B94AF-DB0C-486F-BB51-9DE153C02D5E}"/>
              </a:ext>
            </a:extLst>
          </p:cNvPr>
          <p:cNvSpPr>
            <a:spLocks noGrp="1"/>
          </p:cNvSpPr>
          <p:nvPr/>
        </p:nvSpPr>
        <p:spPr>
          <a:xfrm>
            <a:off x="6800850" y="3028950"/>
            <a:ext cx="133350" cy="133350"/>
          </a:xfrm>
          <a:prstGeom prst="ellipse">
            <a:avLst/>
          </a:prstGeom>
          <a:solidFill>
            <a:srgbClr val="D45D4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FA94E0E-5C90-4851-9AA4-4B00236EECBF}"/>
              </a:ext>
            </a:extLst>
          </p:cNvPr>
          <p:cNvSpPr>
            <a:spLocks noGrp="1"/>
          </p:cNvSpPr>
          <p:nvPr/>
        </p:nvSpPr>
        <p:spPr>
          <a:xfrm>
            <a:off x="7067550" y="2933700"/>
            <a:ext cx="2952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遇到 # 牆壁 → 不能走</a:t>
            </a: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F10A2513-8BCA-46EB-9F1C-AD5EE2F20CE7}"/>
              </a:ext>
            </a:extLst>
          </p:cNvPr>
          <p:cNvSpPr>
            <a:spLocks noGrp="1"/>
          </p:cNvSpPr>
          <p:nvPr/>
        </p:nvSpPr>
        <p:spPr>
          <a:xfrm>
            <a:off x="6800850" y="3486150"/>
            <a:ext cx="133350" cy="133350"/>
          </a:xfrm>
          <a:prstGeom prst="ellipse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0CA7E8B-594C-46FE-8F08-964BF846269F}"/>
              </a:ext>
            </a:extLst>
          </p:cNvPr>
          <p:cNvSpPr>
            <a:spLocks noGrp="1"/>
          </p:cNvSpPr>
          <p:nvPr/>
        </p:nvSpPr>
        <p:spPr>
          <a:xfrm>
            <a:off x="7067550" y="3390900"/>
            <a:ext cx="2952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空白、S、E → 可以走</a:t>
            </a: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EE6F01F6-560C-4584-AB18-4C6C69E4C891}"/>
              </a:ext>
            </a:extLst>
          </p:cNvPr>
          <p:cNvSpPr>
            <a:spLocks noGrp="1"/>
          </p:cNvSpPr>
          <p:nvPr/>
        </p:nvSpPr>
        <p:spPr>
          <a:xfrm>
            <a:off x="6800850" y="3943350"/>
            <a:ext cx="133350" cy="133350"/>
          </a:xfrm>
          <a:prstGeom prst="ellipse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46E7501-9AB7-4380-B32D-6BBF96706F77}"/>
              </a:ext>
            </a:extLst>
          </p:cNvPr>
          <p:cNvSpPr>
            <a:spLocks noGrp="1"/>
          </p:cNvSpPr>
          <p:nvPr/>
        </p:nvSpPr>
        <p:spPr>
          <a:xfrm>
            <a:off x="7067550" y="3848100"/>
            <a:ext cx="2952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75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75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玩家到 END_POINTS → 過關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2DBF3A4-9E91-4A1E-B9FF-CE53E2FF53A0}"/>
              </a:ext>
            </a:extLst>
          </p:cNvPr>
          <p:cNvSpPr>
            <a:spLocks noGrp="1"/>
          </p:cNvSpPr>
          <p:nvPr/>
        </p:nvSpPr>
        <p:spPr>
          <a:xfrm>
            <a:off x="933450" y="5581650"/>
            <a:ext cx="895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650" b="1">
                <a:solidFill>
                  <a:srgbClr val="334155"/>
                </a:solidFill>
                <a:latin typeface="PingFang TC"/>
                <a:ea typeface="PingFang TC"/>
                <a:cs typeface="PingFang TC"/>
              </a:defRPr>
            </a:pPr>
            <a:r>
              <a:rPr sz="1650" b="1">
                <a:solidFill>
                  <a:srgbClr val="334155"/>
                </a:solidFill>
                <a:latin typeface="PingFang TC"/>
                <a:ea typeface="PingFang TC"/>
                <a:cs typeface="PingFang TC"/>
              </a:rPr>
              <a:t>起點與終點另外存在 START_POINTS / END_POINTS，過關判斷不必每次掃整張地圖。</a:t>
            </a:r>
          </a:p>
        </p:txBody>
      </p:sp>
    </p:spTree>
    <p:extLst>
      <p:ext uri="{BB962C8B-B14F-4D97-AF65-F5344CB8AC3E}">
        <p14:creationId xmlns:p14="http://schemas.microsoft.com/office/powerpoint/2010/main" val="502457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5BF7A444-B48E-4A93-9FDA-8C37E20BE28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27BCE07-3E42-4B01-BABD-30D0EF2DB9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E7C7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3B02799-420F-4191-A80E-6AD75B69FFAD}"/>
              </a:ext>
            </a:extLst>
          </p:cNvPr>
          <p:cNvSpPr>
            <a:spLocks noGrp="1"/>
          </p:cNvSpPr>
          <p:nvPr/>
        </p:nvSpPr>
        <p:spPr>
          <a:xfrm>
            <a:off x="11315700" y="6419850"/>
            <a:ext cx="4191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09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3B3DF9E-5FD0-4215-B659-51EBB0C1C279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3429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4748B"/>
                </a:solidFill>
                <a:latin typeface="PingFang TC"/>
                <a:ea typeface="PingFang TC"/>
                <a:cs typeface="PingFang TC"/>
              </a:defRPr>
            </a:pPr>
            <a:r>
              <a:rPr sz="900" b="0">
                <a:solidFill>
                  <a:srgbClr val="64748B"/>
                </a:solidFill>
                <a:latin typeface="PingFang TC"/>
                <a:ea typeface="PingFang TC"/>
                <a:cs typeface="PingFang TC"/>
              </a:rPr>
              <a:t>MAZE QUEST Final Project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561262D-B4EA-4329-AEBE-03B1D8655298}"/>
              </a:ext>
            </a:extLst>
          </p:cNvPr>
          <p:cNvSpPr>
            <a:spLocks noGrp="1"/>
          </p:cNvSpPr>
          <p:nvPr/>
        </p:nvSpPr>
        <p:spPr>
          <a:xfrm>
            <a:off x="666750" y="419100"/>
            <a:ext cx="3429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0E7C7B"/>
                </a:solidFill>
                <a:latin typeface="PingFang TC"/>
                <a:ea typeface="PingFang TC"/>
                <a:cs typeface="PingFang TC"/>
              </a:defRPr>
            </a:pPr>
            <a:r>
              <a:rPr sz="1200" b="1">
                <a:solidFill>
                  <a:srgbClr val="0E7C7B"/>
                </a:solidFill>
                <a:latin typeface="PingFang TC"/>
                <a:ea typeface="PingFang TC"/>
                <a:cs typeface="PingFang TC"/>
              </a:rPr>
              <a:t>UI &amp; FEEDBACK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566B906-FE7B-474A-8176-BCF026899A5F}"/>
              </a:ext>
            </a:extLst>
          </p:cNvPr>
          <p:cNvSpPr>
            <a:spLocks noGrp="1"/>
          </p:cNvSpPr>
          <p:nvPr/>
        </p:nvSpPr>
        <p:spPr>
          <a:xfrm>
            <a:off x="666750" y="723900"/>
            <a:ext cx="9334500" cy="762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700" b="1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2700" b="1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畫面和音效都由遊戲狀態驅動，但不反過來改規則。</a:t>
            </a:r>
          </a:p>
        </p:txBody>
      </p:sp>
      <p:sp>
        <p:nvSpPr>
          <p:cNvPr id="7" name="圓角矩形 6">
            <a:extLst>
              <a:ext uri="{FF2B5EF4-FFF2-40B4-BE49-F238E27FC236}">
                <a16:creationId xmlns:a16="http://schemas.microsoft.com/office/drawing/2014/main" id="{EBD869D6-D912-47F0-99B9-7253AE906B43}"/>
              </a:ext>
            </a:extLst>
          </p:cNvPr>
          <p:cNvSpPr>
            <a:spLocks noGrp="1"/>
          </p:cNvSpPr>
          <p:nvPr/>
        </p:nvSpPr>
        <p:spPr>
          <a:xfrm>
            <a:off x="819150" y="1790700"/>
            <a:ext cx="1905000" cy="1428750"/>
          </a:xfrm>
          <a:prstGeom prst="roundRect">
            <a:avLst>
              <a:gd name="adj" fmla="val 5333"/>
            </a:avLst>
          </a:prstGeom>
          <a:solidFill>
            <a:srgbClr val="111827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762E6D1-D115-4492-A17B-01E31A4B79DD}"/>
              </a:ext>
            </a:extLst>
          </p:cNvPr>
          <p:cNvSpPr>
            <a:spLocks noGrp="1"/>
          </p:cNvSpPr>
          <p:nvPr/>
        </p:nvSpPr>
        <p:spPr>
          <a:xfrm>
            <a:off x="933450" y="1885950"/>
            <a:ext cx="1676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0E7C7B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0E7C7B"/>
                </a:solidFill>
                <a:latin typeface="Menlo"/>
                <a:ea typeface="Menlo"/>
                <a:cs typeface="Menlo"/>
              </a:rPr>
              <a:t>MENU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8689D48-D83D-4C39-8946-0FFF48E3B203}"/>
              </a:ext>
            </a:extLst>
          </p:cNvPr>
          <p:cNvSpPr>
            <a:spLocks noGrp="1"/>
          </p:cNvSpPr>
          <p:nvPr/>
        </p:nvSpPr>
        <p:spPr>
          <a:xfrm>
            <a:off x="952500" y="2152650"/>
            <a:ext cx="163830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MAZE QUEST</a:t>
            </a:r>
          </a:p>
          <a:p>
            <a:endParaRPr sz="1050" b="0">
              <a:solidFill>
                <a:srgbClr val="F8FAFC"/>
              </a:solidFill>
              <a:latin typeface="Menlo"/>
              <a:ea typeface="Menlo"/>
              <a:cs typeface="Menlo"/>
            </a:endParaRPr>
          </a:p>
          <a:p>
            <a:pPr algn="l">
              <a:defRPr sz="1050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&gt; START GAME</a:t>
            </a:r>
          </a:p>
          <a:p>
            <a:pPr algn="l">
              <a:defRPr sz="1050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  HIGH SCORES</a:t>
            </a:r>
          </a:p>
          <a:p>
            <a:pPr algn="l">
              <a:defRPr sz="1050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  VOLUME</a:t>
            </a:r>
          </a:p>
        </p:txBody>
      </p:sp>
      <p:sp>
        <p:nvSpPr>
          <p:cNvPr id="10" name="圓角矩形 9">
            <a:extLst>
              <a:ext uri="{FF2B5EF4-FFF2-40B4-BE49-F238E27FC236}">
                <a16:creationId xmlns:a16="http://schemas.microsoft.com/office/drawing/2014/main" id="{7AC2C141-2DBD-45A0-A5F0-635E915790FD}"/>
              </a:ext>
            </a:extLst>
          </p:cNvPr>
          <p:cNvSpPr>
            <a:spLocks noGrp="1"/>
          </p:cNvSpPr>
          <p:nvPr/>
        </p:nvSpPr>
        <p:spPr>
          <a:xfrm>
            <a:off x="3048000" y="1790700"/>
            <a:ext cx="1905000" cy="1428750"/>
          </a:xfrm>
          <a:prstGeom prst="roundRect">
            <a:avLst>
              <a:gd name="adj" fmla="val 5333"/>
            </a:avLst>
          </a:prstGeom>
          <a:solidFill>
            <a:srgbClr val="111827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57E47FC-D7BC-47FD-8666-D1D67A0BDAAF}"/>
              </a:ext>
            </a:extLst>
          </p:cNvPr>
          <p:cNvSpPr>
            <a:spLocks noGrp="1"/>
          </p:cNvSpPr>
          <p:nvPr/>
        </p:nvSpPr>
        <p:spPr>
          <a:xfrm>
            <a:off x="3162300" y="1885950"/>
            <a:ext cx="1676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D9A441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D9A441"/>
                </a:solidFill>
                <a:latin typeface="Menlo"/>
                <a:ea typeface="Menlo"/>
                <a:cs typeface="Menlo"/>
              </a:rPr>
              <a:t>GAME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CA84AAD-71EA-4F65-AE88-DB29B8D192D0}"/>
              </a:ext>
            </a:extLst>
          </p:cNvPr>
          <p:cNvSpPr>
            <a:spLocks noGrp="1"/>
          </p:cNvSpPr>
          <p:nvPr/>
        </p:nvSpPr>
        <p:spPr>
          <a:xfrm>
            <a:off x="3181350" y="2152650"/>
            <a:ext cx="163830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L1 T24 S000</a:t>
            </a:r>
          </a:p>
          <a:p>
            <a:endParaRPr sz="1050" b="0">
              <a:solidFill>
                <a:srgbClr val="F8FAFC"/>
              </a:solidFill>
              <a:latin typeface="Menlo"/>
              <a:ea typeface="Menlo"/>
              <a:cs typeface="Menlo"/>
            </a:endParaRPr>
          </a:p>
          <a:p>
            <a:pPr algn="l">
              <a:defRPr sz="1050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########</a:t>
            </a:r>
          </a:p>
          <a:p>
            <a:pPr algn="l">
              <a:defRPr sz="1050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#P  # E#</a:t>
            </a:r>
          </a:p>
          <a:p>
            <a:pPr algn="l">
              <a:defRPr sz="1050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# ##   #</a:t>
            </a:r>
          </a:p>
          <a:p>
            <a:pPr algn="l">
              <a:defRPr sz="1050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########</a:t>
            </a:r>
          </a:p>
        </p:txBody>
      </p:sp>
      <p:sp>
        <p:nvSpPr>
          <p:cNvPr id="13" name="圓角矩形 12">
            <a:extLst>
              <a:ext uri="{FF2B5EF4-FFF2-40B4-BE49-F238E27FC236}">
                <a16:creationId xmlns:a16="http://schemas.microsoft.com/office/drawing/2014/main" id="{DC278B86-2059-4CA4-B508-8364BBE1995E}"/>
              </a:ext>
            </a:extLst>
          </p:cNvPr>
          <p:cNvSpPr>
            <a:spLocks noGrp="1"/>
          </p:cNvSpPr>
          <p:nvPr/>
        </p:nvSpPr>
        <p:spPr>
          <a:xfrm>
            <a:off x="5276850" y="1790700"/>
            <a:ext cx="1905000" cy="1428750"/>
          </a:xfrm>
          <a:prstGeom prst="roundRect">
            <a:avLst>
              <a:gd name="adj" fmla="val 5333"/>
            </a:avLst>
          </a:prstGeom>
          <a:solidFill>
            <a:srgbClr val="111827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E087160-66A2-436F-8047-475A34E38F00}"/>
              </a:ext>
            </a:extLst>
          </p:cNvPr>
          <p:cNvSpPr>
            <a:spLocks noGrp="1"/>
          </p:cNvSpPr>
          <p:nvPr/>
        </p:nvSpPr>
        <p:spPr>
          <a:xfrm>
            <a:off x="5391150" y="1885950"/>
            <a:ext cx="1676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4968D8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4968D8"/>
                </a:solidFill>
                <a:latin typeface="Menlo"/>
                <a:ea typeface="Menlo"/>
                <a:cs typeface="Menlo"/>
              </a:rPr>
              <a:t>PAUSE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2287E3C-4D5F-4E9A-A5EF-A0629E61390E}"/>
              </a:ext>
            </a:extLst>
          </p:cNvPr>
          <p:cNvSpPr>
            <a:spLocks noGrp="1"/>
          </p:cNvSpPr>
          <p:nvPr/>
        </p:nvSpPr>
        <p:spPr>
          <a:xfrm>
            <a:off x="5410200" y="2152650"/>
            <a:ext cx="163830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PAUSE</a:t>
            </a:r>
          </a:p>
          <a:p>
            <a:endParaRPr sz="1050" b="0">
              <a:solidFill>
                <a:srgbClr val="F8FAFC"/>
              </a:solidFill>
              <a:latin typeface="Menlo"/>
              <a:ea typeface="Menlo"/>
              <a:cs typeface="Menlo"/>
            </a:endParaRPr>
          </a:p>
          <a:p>
            <a:pPr algn="l">
              <a:defRPr sz="1050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&gt; RESUME</a:t>
            </a:r>
          </a:p>
          <a:p>
            <a:pPr algn="l">
              <a:defRPr sz="1050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  MAIN MENU</a:t>
            </a:r>
          </a:p>
        </p:txBody>
      </p:sp>
      <p:sp>
        <p:nvSpPr>
          <p:cNvPr id="16" name="圓角矩形 15">
            <a:extLst>
              <a:ext uri="{FF2B5EF4-FFF2-40B4-BE49-F238E27FC236}">
                <a16:creationId xmlns:a16="http://schemas.microsoft.com/office/drawing/2014/main" id="{0C02F744-9337-4024-830B-BE0696BB97F4}"/>
              </a:ext>
            </a:extLst>
          </p:cNvPr>
          <p:cNvSpPr>
            <a:spLocks noGrp="1"/>
          </p:cNvSpPr>
          <p:nvPr/>
        </p:nvSpPr>
        <p:spPr>
          <a:xfrm>
            <a:off x="7505700" y="1790700"/>
            <a:ext cx="1905000" cy="1428750"/>
          </a:xfrm>
          <a:prstGeom prst="roundRect">
            <a:avLst>
              <a:gd name="adj" fmla="val 5333"/>
            </a:avLst>
          </a:prstGeom>
          <a:solidFill>
            <a:srgbClr val="111827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64AE877-20C9-4F13-AE30-B77405E249E3}"/>
              </a:ext>
            </a:extLst>
          </p:cNvPr>
          <p:cNvSpPr>
            <a:spLocks noGrp="1"/>
          </p:cNvSpPr>
          <p:nvPr/>
        </p:nvSpPr>
        <p:spPr>
          <a:xfrm>
            <a:off x="7620000" y="1885950"/>
            <a:ext cx="1676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975" b="1">
                <a:solidFill>
                  <a:srgbClr val="D45D4C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D45D4C"/>
                </a:solidFill>
                <a:latin typeface="Menlo"/>
                <a:ea typeface="Menlo"/>
                <a:cs typeface="Menlo"/>
              </a:rPr>
              <a:t>FINISH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212AD88-386E-4581-8915-770D2F987D7C}"/>
              </a:ext>
            </a:extLst>
          </p:cNvPr>
          <p:cNvSpPr>
            <a:spLocks noGrp="1"/>
          </p:cNvSpPr>
          <p:nvPr/>
        </p:nvSpPr>
        <p:spPr>
          <a:xfrm>
            <a:off x="7639050" y="2152650"/>
            <a:ext cx="1638300" cy="971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050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FINISH</a:t>
            </a:r>
          </a:p>
          <a:p>
            <a:pPr algn="l">
              <a:defRPr sz="1050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TIME 00:52</a:t>
            </a:r>
          </a:p>
          <a:p>
            <a:pPr algn="l">
              <a:defRPr sz="1050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SCORE 00265</a:t>
            </a:r>
          </a:p>
          <a:p>
            <a:pPr algn="l">
              <a:defRPr sz="1050" b="0">
                <a:solidFill>
                  <a:srgbClr val="F8FAFC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8FAFC"/>
                </a:solidFill>
                <a:latin typeface="Menlo"/>
                <a:ea typeface="Menlo"/>
                <a:cs typeface="Menlo"/>
              </a:rPr>
              <a:t>HIGH 00290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92B6CB9-1EC7-4897-B887-73F7BF5B62EA}"/>
              </a:ext>
            </a:extLst>
          </p:cNvPr>
          <p:cNvSpPr>
            <a:spLocks noGrp="1"/>
          </p:cNvSpPr>
          <p:nvPr/>
        </p:nvSpPr>
        <p:spPr>
          <a:xfrm>
            <a:off x="876300" y="3733800"/>
            <a:ext cx="5143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725" b="1">
                <a:solidFill>
                  <a:srgbClr val="0E7C7B"/>
                </a:solidFill>
                <a:latin typeface="Menlo"/>
                <a:ea typeface="Menlo"/>
                <a:cs typeface="Menlo"/>
              </a:defRPr>
            </a:pPr>
            <a:r>
              <a:rPr sz="1725" b="1">
                <a:solidFill>
                  <a:srgbClr val="0E7C7B"/>
                </a:solidFill>
                <a:latin typeface="Menlo"/>
                <a:ea typeface="Menlo"/>
                <a:cs typeface="Menlo"/>
              </a:rPr>
              <a:t>DisplayUnit.render(snapshot)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CDA29CB-EA5C-4C25-9340-D70408375DB8}"/>
              </a:ext>
            </a:extLst>
          </p:cNvPr>
          <p:cNvSpPr>
            <a:spLocks noGrp="1"/>
          </p:cNvSpPr>
          <p:nvPr/>
        </p:nvSpPr>
        <p:spPr>
          <a:xfrm>
            <a:off x="876300" y="4248150"/>
            <a:ext cx="4762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defRPr>
            </a:pPr>
            <a:r>
              <a:rPr sz="1500" b="0">
                <a:solidFill>
                  <a:srgbClr val="111827"/>
                </a:solidFill>
                <a:latin typeface="PingFang TC"/>
                <a:ea typeface="PingFang TC"/>
                <a:cs typeface="PingFang TC"/>
              </a:rPr>
              <a:t>依 state 選擇對應 draw_* 畫面；相同畫面不重畫，減少 OLED 更新負擔。</a:t>
            </a:r>
          </a:p>
        </p:txBody>
      </p:sp>
      <p:sp>
        <p:nvSpPr>
          <p:cNvPr id="21" name="圓角矩形 20">
            <a:extLst>
              <a:ext uri="{FF2B5EF4-FFF2-40B4-BE49-F238E27FC236}">
                <a16:creationId xmlns:a16="http://schemas.microsoft.com/office/drawing/2014/main" id="{F9C7CABA-6C19-42EC-8073-1AFB9A620B7B}"/>
              </a:ext>
            </a:extLst>
          </p:cNvPr>
          <p:cNvSpPr>
            <a:spLocks noGrp="1"/>
          </p:cNvSpPr>
          <p:nvPr/>
        </p:nvSpPr>
        <p:spPr>
          <a:xfrm>
            <a:off x="6191250" y="3695700"/>
            <a:ext cx="4953000" cy="1162050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9525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10D4FBE-8C08-43A2-8599-F4ACBF401C72}"/>
              </a:ext>
            </a:extLst>
          </p:cNvPr>
          <p:cNvSpPr>
            <a:spLocks noGrp="1"/>
          </p:cNvSpPr>
          <p:nvPr/>
        </p:nvSpPr>
        <p:spPr>
          <a:xfrm>
            <a:off x="6457950" y="3905250"/>
            <a:ext cx="1238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725" b="1">
                <a:solidFill>
                  <a:srgbClr val="D9A441"/>
                </a:solidFill>
                <a:latin typeface="PingFang TC"/>
                <a:ea typeface="PingFang TC"/>
                <a:cs typeface="PingFang TC"/>
              </a:defRPr>
            </a:pPr>
            <a:r>
              <a:rPr sz="1725" b="1">
                <a:solidFill>
                  <a:srgbClr val="D9A441"/>
                </a:solidFill>
                <a:latin typeface="PingFang TC"/>
                <a:ea typeface="PingFang TC"/>
                <a:cs typeface="PingFang TC"/>
              </a:rPr>
              <a:t>音效階段</a:t>
            </a:r>
          </a:p>
        </p:txBody>
      </p:sp>
      <p:sp>
        <p:nvSpPr>
          <p:cNvPr id="23" name="圓角矩形 22">
            <a:extLst>
              <a:ext uri="{FF2B5EF4-FFF2-40B4-BE49-F238E27FC236}">
                <a16:creationId xmlns:a16="http://schemas.microsoft.com/office/drawing/2014/main" id="{E7E4216B-F508-4198-9115-E9A0E80EC0EC}"/>
              </a:ext>
            </a:extLst>
          </p:cNvPr>
          <p:cNvSpPr>
            <a:spLocks noGrp="1"/>
          </p:cNvSpPr>
          <p:nvPr/>
        </p:nvSpPr>
        <p:spPr>
          <a:xfrm>
            <a:off x="6477000" y="4343400"/>
            <a:ext cx="1314450" cy="323850"/>
          </a:xfrm>
          <a:prstGeom prst="roundRect">
            <a:avLst>
              <a:gd name="adj" fmla="val 23529"/>
            </a:avLst>
          </a:prstGeom>
          <a:solidFill>
            <a:srgbClr val="0E7C7B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E912957-0DB0-421D-890F-FBB9D01C2B68}"/>
              </a:ext>
            </a:extLst>
          </p:cNvPr>
          <p:cNvSpPr>
            <a:spLocks noGrp="1"/>
          </p:cNvSpPr>
          <p:nvPr/>
        </p:nvSpPr>
        <p:spPr>
          <a:xfrm>
            <a:off x="6553200" y="4391025"/>
            <a:ext cx="11620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30~21s normal</a:t>
            </a:r>
          </a:p>
        </p:txBody>
      </p:sp>
      <p:sp>
        <p:nvSpPr>
          <p:cNvPr id="25" name="圓角矩形 24">
            <a:extLst>
              <a:ext uri="{FF2B5EF4-FFF2-40B4-BE49-F238E27FC236}">
                <a16:creationId xmlns:a16="http://schemas.microsoft.com/office/drawing/2014/main" id="{2ED5F232-97FF-44D9-A18C-596E02FA7662}"/>
              </a:ext>
            </a:extLst>
          </p:cNvPr>
          <p:cNvSpPr>
            <a:spLocks noGrp="1"/>
          </p:cNvSpPr>
          <p:nvPr/>
        </p:nvSpPr>
        <p:spPr>
          <a:xfrm>
            <a:off x="7943850" y="4343400"/>
            <a:ext cx="1390650" cy="323850"/>
          </a:xfrm>
          <a:prstGeom prst="roundRect">
            <a:avLst>
              <a:gd name="adj" fmla="val 23529"/>
            </a:avLst>
          </a:prstGeom>
          <a:solidFill>
            <a:srgbClr val="D9A441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676AAF8-A8F0-4558-8E34-9409025FA68B}"/>
              </a:ext>
            </a:extLst>
          </p:cNvPr>
          <p:cNvSpPr>
            <a:spLocks noGrp="1"/>
          </p:cNvSpPr>
          <p:nvPr/>
        </p:nvSpPr>
        <p:spPr>
          <a:xfrm>
            <a:off x="8020050" y="4391025"/>
            <a:ext cx="1238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20~11s tension</a:t>
            </a:r>
          </a:p>
        </p:txBody>
      </p:sp>
      <p:sp>
        <p:nvSpPr>
          <p:cNvPr id="27" name="圓角矩形 26">
            <a:extLst>
              <a:ext uri="{FF2B5EF4-FFF2-40B4-BE49-F238E27FC236}">
                <a16:creationId xmlns:a16="http://schemas.microsoft.com/office/drawing/2014/main" id="{802855E7-6C1C-4262-9D88-DDAD03A2D050}"/>
              </a:ext>
            </a:extLst>
          </p:cNvPr>
          <p:cNvSpPr>
            <a:spLocks noGrp="1"/>
          </p:cNvSpPr>
          <p:nvPr/>
        </p:nvSpPr>
        <p:spPr>
          <a:xfrm>
            <a:off x="9486900" y="4343400"/>
            <a:ext cx="1219200" cy="323850"/>
          </a:xfrm>
          <a:prstGeom prst="roundRect">
            <a:avLst>
              <a:gd name="adj" fmla="val 23529"/>
            </a:avLst>
          </a:prstGeom>
          <a:solidFill>
            <a:srgbClr val="D45D4C"/>
          </a:solidFill>
          <a:ln w="9525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326C1B3-321F-437B-BB00-8517D79FEEE5}"/>
              </a:ext>
            </a:extLst>
          </p:cNvPr>
          <p:cNvSpPr>
            <a:spLocks noGrp="1"/>
          </p:cNvSpPr>
          <p:nvPr/>
        </p:nvSpPr>
        <p:spPr>
          <a:xfrm>
            <a:off x="9563100" y="4391025"/>
            <a:ext cx="1066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ctr">
              <a:defRPr sz="1050" b="1">
                <a:solidFill>
                  <a:srgbClr val="FFFFFF"/>
                </a:solidFill>
                <a:latin typeface="PingFang TC"/>
                <a:ea typeface="PingFang TC"/>
                <a:cs typeface="PingFang TC"/>
              </a:defRPr>
            </a:pPr>
            <a:r>
              <a:rPr sz="105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10~1s urgent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EF58712-C552-4C31-A55F-2A7A7E94BCAA}"/>
              </a:ext>
            </a:extLst>
          </p:cNvPr>
          <p:cNvSpPr>
            <a:spLocks noGrp="1"/>
          </p:cNvSpPr>
          <p:nvPr/>
        </p:nvSpPr>
        <p:spPr>
          <a:xfrm>
            <a:off x="6457950" y="4953000"/>
            <a:ext cx="43815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76200" tIns="57150" rIns="76200" bIns="57150" anchor="t"/>
          <a:lstStyle/>
          <a:p>
            <a:pPr algn="l">
              <a:defRPr sz="1350" b="0">
                <a:solidFill>
                  <a:srgbClr val="334155"/>
                </a:solidFill>
                <a:latin typeface="PingFang TC"/>
                <a:ea typeface="PingFang TC"/>
                <a:cs typeface="PingFang TC"/>
              </a:defRPr>
            </a:pPr>
            <a:r>
              <a:rPr sz="1350" b="0">
                <a:solidFill>
                  <a:srgbClr val="334155"/>
                </a:solidFill>
                <a:latin typeface="PingFang TC"/>
                <a:ea typeface="PingFang TC"/>
                <a:cs typeface="PingFang TC"/>
              </a:rPr>
              <a:t>按鍵、過關、成功、失敗音效則透過 sound_events 佇列優先播放。</a:t>
            </a:r>
          </a:p>
        </p:txBody>
      </p:sp>
    </p:spTree>
    <p:extLst>
      <p:ext uri="{BB962C8B-B14F-4D97-AF65-F5344CB8AC3E}">
        <p14:creationId xmlns:p14="http://schemas.microsoft.com/office/powerpoint/2010/main" val="90489339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527</Words>
  <Application>Microsoft Macintosh PowerPoint</Application>
  <DocSecurity>0</DocSecurity>
  <PresentationFormat>寬螢幕</PresentationFormat>
  <Paragraphs>163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2" baseType="lpstr">
      <vt:lpstr>PingFang TC</vt:lpstr>
      <vt:lpstr>Calibri</vt:lpstr>
      <vt:lpstr>Menlo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a7081</cp:lastModifiedBy>
  <cp:revision>1</cp:revision>
  <dcterms:created xsi:type="dcterms:W3CDTF">2026-06-04T03:15:11Z</dcterms:created>
  <dcterms:modified xsi:type="dcterms:W3CDTF">2026-06-04T03:18:53Z</dcterms:modified>
</cp:coreProperties>
</file>